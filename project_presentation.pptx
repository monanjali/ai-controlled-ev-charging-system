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8" r:id="rId5"/>
    <p:sldId id="272" r:id="rId6"/>
    <p:sldId id="281" r:id="rId7"/>
    <p:sldId id="277" r:id="rId8"/>
    <p:sldId id="269" r:id="rId9"/>
    <p:sldId id="270" r:id="rId10"/>
    <p:sldId id="285" r:id="rId11"/>
    <p:sldId id="287" r:id="rId12"/>
    <p:sldId id="291" r:id="rId13"/>
    <p:sldId id="292" r:id="rId14"/>
    <p:sldId id="290" r:id="rId15"/>
    <p:sldId id="275" r:id="rId16"/>
    <p:sldId id="28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83" d="100"/>
          <a:sy n="83" d="100"/>
        </p:scale>
        <p:origin x="52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169C4-2B0C-4D78-88F2-138A4C22DF6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7D87CF-9E1A-4611-B5D1-F4FF7ABB6509}"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a:t>
            </a:r>
            <a:endParaRPr lang="en-US" dirty="0"/>
          </a:p>
          <a:p>
            <a:endParaRPr lang="en-US" dirty="0"/>
          </a:p>
        </p:txBody>
      </p:sp>
      <p:sp>
        <p:nvSpPr>
          <p:cNvPr id="4" name="Slide Number Placeholder 3"/>
          <p:cNvSpPr>
            <a:spLocks noGrp="1"/>
          </p:cNvSpPr>
          <p:nvPr>
            <p:ph type="sldNum" sz="quarter" idx="5"/>
          </p:nvPr>
        </p:nvSpPr>
        <p:spPr/>
        <p:txBody>
          <a:bodyPr/>
          <a:lstStyle/>
          <a:p>
            <a:fld id="{4E7D87CF-9E1A-4611-B5D1-F4FF7ABB6509}"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BABB92F-90B2-4D7E-9BE9-5F3D42691AF5}"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A756E84-2239-4073-BFF1-93B2E5A3C486}"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C7ADDF0-EBB6-4383-B470-63D5F504518F}"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3EE3342A-FB96-4E52-B0C9-6F38EDD19343}"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C34B63E-B69F-46FD-B474-D07C5E14CF74}"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64EA8D2-B5C0-4C14-B50D-500AB3B87D8D}"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97CF2D-3FBA-4B8B-A33A-8DCDCA9A8F2E}"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CA7D316-C503-4039-AEDA-3FB83044809D}"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411DD3E-56A8-485C-85B7-6744D2129D23}"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F9CBC09-C3DB-4ECC-955F-63A7427BA980}"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F4E4EC2-F8D3-4FA1-B8CB-50BEA0904752}"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BBA3FD-5E4D-435C-9EE5-DFAB8C57DB21}"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371DF9-27D1-4286-99A9-B07A2966053B}"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57985" y="3937635"/>
            <a:ext cx="8875395" cy="2327910"/>
          </a:xfrm>
          <a:prstGeom prst="rect">
            <a:avLst/>
          </a:prstGeom>
          <a:noFill/>
        </p:spPr>
        <p:txBody>
          <a:bodyPr wrap="square">
            <a:noAutofit/>
          </a:bodyPr>
          <a:lstStyle/>
          <a:p>
            <a:pPr algn="ctr"/>
            <a:r>
              <a:rPr lang="en-US" sz="2000" b="1" dirty="0">
                <a:solidFill>
                  <a:srgbClr val="002060"/>
                </a:solidFill>
                <a:latin typeface="Times New Roman" panose="02020603050405020304" pitchFamily="18" charset="0"/>
                <a:ea typeface="Calibri" panose="020F0502020204030204" pitchFamily="34" charset="0"/>
              </a:rPr>
              <a:t>Department of Electrical and Electronics Engineering</a:t>
            </a:r>
            <a:endParaRPr lang="en-US" sz="2000" b="1" dirty="0">
              <a:solidFill>
                <a:srgbClr val="002060"/>
              </a:solidFill>
              <a:latin typeface="Times New Roman" panose="02020603050405020304" pitchFamily="18" charset="0"/>
              <a:ea typeface="Calibri" panose="020F0502020204030204" pitchFamily="34" charset="0"/>
            </a:endParaRPr>
          </a:p>
          <a:p>
            <a:pPr algn="ctr"/>
            <a:r>
              <a:rPr lang="en-IN" sz="2000" b="1" dirty="0">
                <a:solidFill>
                  <a:srgbClr val="002060"/>
                </a:solidFill>
                <a:effectLst/>
                <a:latin typeface="Times New Roman" panose="02020603050405020304" pitchFamily="18" charset="0"/>
                <a:ea typeface="Calibri" panose="020F0502020204030204" pitchFamily="34" charset="0"/>
              </a:rPr>
              <a:t>Shri Vishnu Engineering College for Women (A) </a:t>
            </a:r>
            <a:endParaRPr lang="en-IN" sz="2000" b="1" dirty="0">
              <a:solidFill>
                <a:srgbClr val="002060"/>
              </a:solidFill>
              <a:effectLst/>
              <a:latin typeface="Times New Roman" panose="02020603050405020304" pitchFamily="18" charset="0"/>
              <a:ea typeface="Calibri" panose="020F0502020204030204" pitchFamily="34" charset="0"/>
            </a:endParaRPr>
          </a:p>
          <a:p>
            <a:pPr algn="ctr"/>
            <a:r>
              <a:rPr lang="en-IN" sz="2000" b="1" dirty="0">
                <a:solidFill>
                  <a:srgbClr val="002060"/>
                </a:solidFill>
                <a:latin typeface="Times New Roman" panose="02020603050405020304" pitchFamily="18" charset="0"/>
                <a:ea typeface="Calibri" panose="020F0502020204030204" pitchFamily="34" charset="0"/>
              </a:rPr>
              <a:t>Bhimavaram, Andhra Pradesh - 534201 </a:t>
            </a:r>
            <a:endParaRPr lang="en-IN" sz="2000" b="1" dirty="0">
              <a:solidFill>
                <a:srgbClr val="002060"/>
              </a:solidFill>
              <a:latin typeface="Times New Roman" panose="02020603050405020304" pitchFamily="18" charset="0"/>
              <a:ea typeface="Calibri" panose="020F0502020204030204" pitchFamily="34" charset="0"/>
            </a:endParaRPr>
          </a:p>
        </p:txBody>
      </p:sp>
      <p:sp>
        <p:nvSpPr>
          <p:cNvPr id="7" name="TextBox 6"/>
          <p:cNvSpPr txBox="1"/>
          <p:nvPr/>
        </p:nvSpPr>
        <p:spPr>
          <a:xfrm>
            <a:off x="1977886" y="975451"/>
            <a:ext cx="8217673" cy="707886"/>
          </a:xfrm>
          <a:prstGeom prst="rect">
            <a:avLst/>
          </a:prstGeom>
          <a:noFill/>
        </p:spPr>
        <p:txBody>
          <a:bodyPr wrap="square">
            <a:spAutoFit/>
          </a:bodyPr>
          <a:lstStyle/>
          <a:p>
            <a:pPr algn="ctr"/>
            <a:r>
              <a:rPr lang="en-IN" sz="2000" b="1" dirty="0">
                <a:solidFill>
                  <a:srgbClr val="002060"/>
                </a:solidFill>
                <a:latin typeface="Times New Roman" panose="02020603050405020304" pitchFamily="18" charset="0"/>
                <a:cs typeface="Times New Roman" panose="02020603050405020304" pitchFamily="18" charset="0"/>
              </a:rPr>
              <a:t>AI-CONTROLLED MULTI-SOURCE POWER INTEGRATION </a:t>
            </a:r>
            <a:endParaRPr lang="en-IN" sz="2000" b="1" dirty="0">
              <a:solidFill>
                <a:srgbClr val="002060"/>
              </a:solidFill>
              <a:latin typeface="Times New Roman" panose="02020603050405020304" pitchFamily="18" charset="0"/>
              <a:cs typeface="Times New Roman" panose="02020603050405020304" pitchFamily="18" charset="0"/>
            </a:endParaRPr>
          </a:p>
          <a:p>
            <a:pPr algn="ctr"/>
            <a:r>
              <a:rPr lang="en-IN" sz="2000" b="1" dirty="0">
                <a:solidFill>
                  <a:srgbClr val="002060"/>
                </a:solidFill>
                <a:latin typeface="Times New Roman" panose="02020603050405020304" pitchFamily="18" charset="0"/>
                <a:cs typeface="Times New Roman" panose="02020603050405020304" pitchFamily="18" charset="0"/>
              </a:rPr>
              <a:t>IN SUSTAINABLE EV CHARGING STATIONS</a:t>
            </a:r>
            <a:endParaRPr lang="en-IN" sz="2000" b="1" dirty="0">
              <a:solidFill>
                <a:srgbClr val="00206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4760595" y="1804035"/>
            <a:ext cx="2039620" cy="518795"/>
          </a:xfrm>
          <a:prstGeom prst="rect">
            <a:avLst/>
          </a:prstGeom>
          <a:noFill/>
        </p:spPr>
        <p:txBody>
          <a:bodyPr wrap="square" rtlCol="0">
            <a:noAutofit/>
          </a:bodyPr>
          <a:lstStyle/>
          <a:p>
            <a:r>
              <a:rPr lang="en-US" sz="2000" b="1" dirty="0">
                <a:solidFill>
                  <a:srgbClr val="0070C0"/>
                </a:solidFill>
                <a:latin typeface="Times New Roman" panose="02020603050405020304" pitchFamily="18" charset="0"/>
                <a:cs typeface="Times New Roman" panose="02020603050405020304" pitchFamily="18" charset="0"/>
              </a:rPr>
              <a:t>    Major Project</a:t>
            </a:r>
            <a:endParaRPr lang="en-US" sz="2000" b="1" dirty="0">
              <a:solidFill>
                <a:srgbClr val="0070C0"/>
              </a:solidFill>
              <a:latin typeface="Times New Roman" panose="02020603050405020304" pitchFamily="18" charset="0"/>
              <a:cs typeface="Times New Roman" panose="02020603050405020304" pitchFamily="18" charset="0"/>
            </a:endParaRPr>
          </a:p>
          <a:p>
            <a:r>
              <a:rPr lang="en-US" sz="2000" b="1" dirty="0">
                <a:solidFill>
                  <a:srgbClr val="0070C0"/>
                </a:solidFill>
                <a:latin typeface="Times New Roman" panose="02020603050405020304" pitchFamily="18" charset="0"/>
                <a:cs typeface="Times New Roman" panose="02020603050405020304" pitchFamily="18" charset="0"/>
              </a:rPr>
              <a:t>      </a:t>
            </a:r>
            <a:endParaRPr lang="en-US" sz="2000" b="1" dirty="0">
              <a:solidFill>
                <a:srgbClr val="0070C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358390" y="2443480"/>
            <a:ext cx="7222490" cy="2412365"/>
          </a:xfrm>
          <a:prstGeom prst="rect">
            <a:avLst/>
          </a:prstGeom>
          <a:noFill/>
        </p:spPr>
        <p:txBody>
          <a:bodyPr wrap="square" rtlCol="0">
            <a:noAutofit/>
          </a:bodyPr>
          <a:lstStyle/>
          <a:p>
            <a:pPr algn="ctr">
              <a:spcBef>
                <a:spcPts val="465"/>
              </a:spcBef>
              <a:defRPr/>
            </a:pPr>
            <a:r>
              <a:rPr lang="en-US" sz="2400" b="1" dirty="0">
                <a:solidFill>
                  <a:srgbClr val="002060"/>
                </a:solidFill>
                <a:latin typeface="Times New Roman" panose="02020603050405020304" pitchFamily="18" charset="0"/>
                <a:cs typeface="Times New Roman" panose="02020603050405020304" pitchFamily="18" charset="0"/>
              </a:rPr>
              <a:t>Presented By</a:t>
            </a:r>
            <a:endParaRPr lang="en-US" sz="2400" b="1" dirty="0">
              <a:solidFill>
                <a:srgbClr val="002060"/>
              </a:solidFill>
              <a:latin typeface="Times New Roman" panose="02020603050405020304" pitchFamily="18" charset="0"/>
              <a:cs typeface="Times New Roman" panose="02020603050405020304" pitchFamily="18" charset="0"/>
            </a:endParaRPr>
          </a:p>
          <a:p>
            <a:pPr lvl="5">
              <a:spcBef>
                <a:spcPts val="465"/>
              </a:spcBef>
              <a:defRPr/>
            </a:pPr>
            <a:r>
              <a:rPr lang="en-GB" altLang="en-US" sz="2400" dirty="0" err="1">
                <a:solidFill>
                  <a:srgbClr val="002060"/>
                </a:solidFill>
                <a:latin typeface="Times New Roman" panose="02020603050405020304" pitchFamily="18" charset="0"/>
                <a:cs typeface="Times New Roman" panose="02020603050405020304" pitchFamily="18" charset="0"/>
              </a:rPr>
              <a:t>Maddala </a:t>
            </a:r>
            <a:r>
              <a:rPr lang="en-US" sz="2400" dirty="0" err="1">
                <a:solidFill>
                  <a:srgbClr val="002060"/>
                </a:solidFill>
                <a:latin typeface="Times New Roman" panose="02020603050405020304" pitchFamily="18" charset="0"/>
                <a:cs typeface="Times New Roman" panose="02020603050405020304" pitchFamily="18" charset="0"/>
              </a:rPr>
              <a:t>Monanjali</a:t>
            </a:r>
            <a:endParaRPr lang="en-US" sz="2400" dirty="0">
              <a:solidFill>
                <a:srgbClr val="002060"/>
              </a:solidFill>
              <a:latin typeface="Times New Roman" panose="02020603050405020304" pitchFamily="18" charset="0"/>
              <a:cs typeface="Times New Roman" panose="02020603050405020304" pitchFamily="18" charset="0"/>
            </a:endParaRPr>
          </a:p>
          <a:p>
            <a:pPr lvl="1" algn="just">
              <a:spcBef>
                <a:spcPts val="465"/>
              </a:spcBef>
              <a:defRPr/>
            </a:pPr>
            <a:endParaRPr lang="en-US" sz="2400" dirty="0">
              <a:solidFill>
                <a:srgbClr val="002060"/>
              </a:solidFill>
              <a:latin typeface="Times New Roman" panose="02020603050405020304" pitchFamily="18" charset="0"/>
              <a:cs typeface="Times New Roman" panose="02020603050405020304" pitchFamily="18" charset="0"/>
            </a:endParaRPr>
          </a:p>
        </p:txBody>
      </p:sp>
      <p:sp>
        <p:nvSpPr>
          <p:cNvPr id="11" name="Slide Number Placeholder 10"/>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4371DF9-27D1-4286-99A9-B07A2966053B}" type="slidenum">
              <a:rPr lang="en-IN" smtClean="0"/>
            </a:fld>
            <a:endParaRPr lang="en-IN"/>
          </a:p>
        </p:txBody>
      </p:sp>
      <p:sp>
        <p:nvSpPr>
          <p:cNvPr id="4" name="TextBox 3"/>
          <p:cNvSpPr txBox="1"/>
          <p:nvPr/>
        </p:nvSpPr>
        <p:spPr>
          <a:xfrm>
            <a:off x="690716" y="419426"/>
            <a:ext cx="9783097" cy="4524315"/>
          </a:xfrm>
          <a:prstGeom prst="rect">
            <a:avLst/>
          </a:prstGeom>
          <a:noFill/>
        </p:spPr>
        <p:txBody>
          <a:bodyPr wrap="square" rtlCol="0">
            <a:spAutoFit/>
          </a:bodyPr>
          <a:lstStyle/>
          <a:p>
            <a:r>
              <a:rPr lang="en-IN" sz="2400" b="1" dirty="0">
                <a:solidFill>
                  <a:srgbClr val="002060"/>
                </a:solidFill>
                <a:latin typeface="Times New Roman" panose="02020603050405020304" pitchFamily="18" charset="0"/>
                <a:cs typeface="Times New Roman" panose="02020603050405020304" pitchFamily="18" charset="0"/>
              </a:rPr>
              <a:t>Contents:</a:t>
            </a:r>
            <a:endParaRPr lang="en-IN" sz="2400" b="1" dirty="0">
              <a:solidFill>
                <a:srgbClr val="002060"/>
              </a:solidFill>
              <a:latin typeface="Times New Roman" panose="02020603050405020304" pitchFamily="18" charset="0"/>
              <a:cs typeface="Times New Roman" panose="02020603050405020304" pitchFamily="18" charset="0"/>
            </a:endParaRPr>
          </a:p>
          <a:p>
            <a:endParaRPr lang="en-IN"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Introduction</a:t>
            </a:r>
            <a:endParaRPr lang="en-IN"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Problem Statement</a:t>
            </a:r>
            <a:endParaRPr lang="en-IN"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Literature survey</a:t>
            </a: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Block Diagram</a:t>
            </a: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solidFill>
                  <a:srgbClr val="002060"/>
                </a:solidFill>
                <a:latin typeface="Times New Roman" panose="02020603050405020304" pitchFamily="18" charset="0"/>
                <a:cs typeface="Times New Roman" panose="02020603050405020304" pitchFamily="18" charset="0"/>
              </a:rPr>
              <a:t>Objectives</a:t>
            </a: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Output </a:t>
            </a: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solidFill>
                  <a:srgbClr val="002060"/>
                </a:solidFill>
                <a:latin typeface="Times New Roman" panose="02020603050405020304" pitchFamily="18" charset="0"/>
                <a:cs typeface="Times New Roman" panose="02020603050405020304" pitchFamily="18" charset="0"/>
              </a:rPr>
              <a:t>Conference </a:t>
            </a:r>
            <a:r>
              <a:rPr lang="en-IN" sz="2400" dirty="0" smtClean="0">
                <a:solidFill>
                  <a:srgbClr val="002060"/>
                </a:solidFill>
                <a:latin typeface="Times New Roman" panose="02020603050405020304" pitchFamily="18" charset="0"/>
                <a:cs typeface="Times New Roman" panose="02020603050405020304" pitchFamily="18" charset="0"/>
              </a:rPr>
              <a:t>Acceptance</a:t>
            </a:r>
            <a:endParaRPr lang="en-IN" sz="2400" dirty="0" smtClean="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Paper </a:t>
            </a:r>
            <a:r>
              <a:rPr lang="en-IN" sz="2400" dirty="0" smtClean="0">
                <a:solidFill>
                  <a:srgbClr val="002060"/>
                </a:solidFill>
                <a:latin typeface="Times New Roman" panose="02020603050405020304" pitchFamily="18" charset="0"/>
                <a:cs typeface="Times New Roman" panose="02020603050405020304" pitchFamily="18" charset="0"/>
              </a:rPr>
              <a:t>Publication</a:t>
            </a:r>
            <a:endParaRPr lang="en-IN"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solidFill>
                  <a:srgbClr val="002060"/>
                </a:solidFill>
                <a:latin typeface="Times New Roman" panose="02020603050405020304" pitchFamily="18" charset="0"/>
                <a:cs typeface="Times New Roman" panose="02020603050405020304" pitchFamily="18" charset="0"/>
              </a:rPr>
              <a:t>References</a:t>
            </a: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
        <p:nvSpPr>
          <p:cNvPr id="8" name="Title 1"/>
          <p:cNvSpPr>
            <a:spLocks noGrp="1"/>
          </p:cNvSpPr>
          <p:nvPr>
            <p:ph type="title"/>
          </p:nvPr>
        </p:nvSpPr>
        <p:spPr>
          <a:xfrm>
            <a:off x="838200" y="235974"/>
            <a:ext cx="10016613" cy="884902"/>
          </a:xfrm>
        </p:spPr>
        <p:txBody>
          <a:bodyPr>
            <a:normAutofit fontScale="90000"/>
          </a:bodyPr>
          <a:lstStyle/>
          <a:p>
            <a:br>
              <a:rPr lang="en-IN" sz="2800" b="1" dirty="0">
                <a:solidFill>
                  <a:srgbClr val="002060"/>
                </a:solidFill>
                <a:latin typeface="Times New Roman" panose="02020603050405020304" pitchFamily="18" charset="0"/>
                <a:cs typeface="Times New Roman" panose="02020603050405020304" pitchFamily="18" charset="0"/>
              </a:rPr>
            </a:br>
            <a:r>
              <a:rPr lang="en-IN" sz="2700" b="1" dirty="0">
                <a:solidFill>
                  <a:srgbClr val="002060"/>
                </a:solidFill>
                <a:latin typeface="Times New Roman" panose="02020603050405020304" pitchFamily="18" charset="0"/>
                <a:cs typeface="Times New Roman" panose="02020603050405020304" pitchFamily="18" charset="0"/>
              </a:rPr>
              <a:t>Introduction:</a:t>
            </a:r>
            <a:br>
              <a:rPr lang="en-IN" sz="2800" b="1" dirty="0">
                <a:solidFill>
                  <a:srgbClr val="002060"/>
                </a:solidFill>
                <a:latin typeface="Times New Roman" panose="02020603050405020304" pitchFamily="18" charset="0"/>
                <a:cs typeface="Times New Roman" panose="02020603050405020304" pitchFamily="18" charset="0"/>
              </a:rPr>
            </a:b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idx="1"/>
          </p:nvPr>
        </p:nvSpPr>
        <p:spPr bwMode="auto">
          <a:xfrm>
            <a:off x="838200" y="996042"/>
            <a:ext cx="1018372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lvl="0" indent="0" algn="just" eaLnBrk="0" fontAlgn="base" hangingPunct="0">
              <a:lnSpc>
                <a:spcPct val="100000"/>
              </a:lnSpc>
              <a:spcBef>
                <a:spcPct val="0"/>
              </a:spcBef>
              <a:spcAft>
                <a:spcPct val="0"/>
              </a:spcAft>
              <a:buFontTx/>
              <a:buChar char="•"/>
            </a:pPr>
            <a:r>
              <a:rPr lang="en-US" altLang="en-US" sz="2400" dirty="0">
                <a:solidFill>
                  <a:srgbClr val="002060"/>
                </a:solidFill>
                <a:latin typeface="Times New Roman" panose="02020603050405020304" pitchFamily="18" charset="0"/>
                <a:cs typeface="Times New Roman" panose="02020603050405020304" pitchFamily="18" charset="0"/>
              </a:rPr>
              <a:t>This project focuses on developing a sustainable EV charging station using multisource power integration.</a:t>
            </a: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400" dirty="0">
                <a:solidFill>
                  <a:srgbClr val="002060"/>
                </a:solidFill>
                <a:latin typeface="Times New Roman" panose="02020603050405020304" pitchFamily="18" charset="0"/>
                <a:cs typeface="Times New Roman" panose="02020603050405020304" pitchFamily="18" charset="0"/>
              </a:rPr>
              <a:t>It integrates solar energy, battery storage, and grid power to ensure uninterrupted EV charging.</a:t>
            </a: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400" dirty="0">
                <a:solidFill>
                  <a:srgbClr val="002060"/>
                </a:solidFill>
                <a:latin typeface="Times New Roman" panose="02020603050405020304" pitchFamily="18" charset="0"/>
                <a:cs typeface="Times New Roman" panose="02020603050405020304" pitchFamily="18" charset="0"/>
              </a:rPr>
              <a:t>An ESP32 microcontroller monitors voltage and current from all power sources in real time.</a:t>
            </a: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400" dirty="0">
                <a:solidFill>
                  <a:srgbClr val="002060"/>
                </a:solidFill>
                <a:latin typeface="Times New Roman" panose="02020603050405020304" pitchFamily="18" charset="0"/>
                <a:cs typeface="Times New Roman" panose="02020603050405020304" pitchFamily="18" charset="0"/>
              </a:rPr>
              <a:t>An AI-based </a:t>
            </a:r>
            <a:r>
              <a:rPr lang="en-US" altLang="en-US" sz="2400" dirty="0" smtClean="0">
                <a:solidFill>
                  <a:srgbClr val="002060"/>
                </a:solidFill>
                <a:latin typeface="Times New Roman" panose="02020603050405020304" pitchFamily="18" charset="0"/>
                <a:cs typeface="Times New Roman" panose="02020603050405020304" pitchFamily="18" charset="0"/>
              </a:rPr>
              <a:t>control intelligently </a:t>
            </a:r>
            <a:r>
              <a:rPr lang="en-US" altLang="en-US" sz="2400" dirty="0">
                <a:solidFill>
                  <a:srgbClr val="002060"/>
                </a:solidFill>
                <a:latin typeface="Times New Roman" panose="02020603050405020304" pitchFamily="18" charset="0"/>
                <a:cs typeface="Times New Roman" panose="02020603050405020304" pitchFamily="18" charset="0"/>
              </a:rPr>
              <a:t>selects the optimal power source based on availability and demand.</a:t>
            </a: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endParaRPr lang="en-US" altLang="en-US" sz="2400" dirty="0">
              <a:solidFill>
                <a:srgbClr val="00206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400" dirty="0">
                <a:solidFill>
                  <a:srgbClr val="002060"/>
                </a:solidFill>
                <a:latin typeface="Times New Roman" panose="02020603050405020304" pitchFamily="18" charset="0"/>
                <a:cs typeface="Times New Roman" panose="02020603050405020304" pitchFamily="18" charset="0"/>
              </a:rPr>
              <a:t>The system improves energy efficiency, reliability, and reduces dependency on conventional grid power.</a:t>
            </a:r>
            <a:endParaRPr kumimoji="0" lang="en-US" altLang="en-US" sz="24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4371DF9-27D1-4286-99A9-B07A2966053B}" type="slidenum">
              <a:rPr lang="en-IN" smtClean="0"/>
            </a:fld>
            <a:endParaRPr lang="en-IN"/>
          </a:p>
        </p:txBody>
      </p:sp>
      <p:sp>
        <p:nvSpPr>
          <p:cNvPr id="7" name="TextBox 6"/>
          <p:cNvSpPr txBox="1"/>
          <p:nvPr/>
        </p:nvSpPr>
        <p:spPr>
          <a:xfrm>
            <a:off x="838200" y="1043411"/>
            <a:ext cx="10350909" cy="4154984"/>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Most EV charging stations depend only on grid power, which increases electricity cost and carbon emissions.</a:t>
            </a: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Solar energy availability is not continuous, so charging becomes unreliable when solar power is low.</a:t>
            </a: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Existing systems do not have smart control to efficiently manage and switch between multiple power sources.</a:t>
            </a:r>
            <a:endParaRPr lang="en-US" sz="2400" dirty="0">
              <a:solidFill>
                <a:srgbClr val="002060"/>
              </a:solidFill>
              <a:latin typeface="Times New Roman" panose="02020603050405020304" pitchFamily="18" charset="0"/>
              <a:cs typeface="Times New Roman" panose="02020603050405020304" pitchFamily="18" charset="0"/>
            </a:endParaRPr>
          </a:p>
          <a:p>
            <a:pPr algn="just"/>
            <a:endParaRPr lang="en-US" sz="2400" dirty="0">
              <a:solidFill>
                <a:srgbClr val="00206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Due to poor power management, EV charging stations face energy wastage, interruptions, and low efficiency.</a:t>
            </a:r>
            <a:endParaRPr lang="en-IN" sz="2400" dirty="0">
              <a:solidFill>
                <a:srgbClr val="002060"/>
              </a:solidFill>
              <a:latin typeface="Times New Roman" panose="02020603050405020304" pitchFamily="18" charset="0"/>
              <a:cs typeface="Times New Roman" panose="02020603050405020304" pitchFamily="18" charset="0"/>
            </a:endParaRPr>
          </a:p>
        </p:txBody>
      </p:sp>
      <p:sp>
        <p:nvSpPr>
          <p:cNvPr id="8" name="Title 1"/>
          <p:cNvSpPr txBox="1"/>
          <p:nvPr/>
        </p:nvSpPr>
        <p:spPr>
          <a:xfrm>
            <a:off x="838200" y="136524"/>
            <a:ext cx="10203426" cy="98435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IN" sz="2400" b="1" dirty="0">
                <a:solidFill>
                  <a:srgbClr val="002060"/>
                </a:solidFill>
                <a:latin typeface="Times New Roman" panose="02020603050405020304" pitchFamily="18" charset="0"/>
                <a:cs typeface="Times New Roman" panose="02020603050405020304" pitchFamily="18" charset="0"/>
              </a:rPr>
            </a:br>
            <a:r>
              <a:rPr lang="en-IN" sz="2400" b="1" dirty="0">
                <a:solidFill>
                  <a:srgbClr val="002060"/>
                </a:solidFill>
                <a:latin typeface="Times New Roman" panose="02020603050405020304" pitchFamily="18" charset="0"/>
                <a:cs typeface="Times New Roman" panose="02020603050405020304" pitchFamily="18" charset="0"/>
              </a:rPr>
              <a:t>Problem Statement:</a:t>
            </a:r>
            <a:br>
              <a:rPr lang="en-IN" sz="2400" b="1" dirty="0">
                <a:solidFill>
                  <a:srgbClr val="002060"/>
                </a:solidFill>
                <a:latin typeface="Times New Roman" panose="02020603050405020304" pitchFamily="18" charset="0"/>
                <a:cs typeface="Times New Roman" panose="02020603050405020304" pitchFamily="18" charset="0"/>
              </a:rPr>
            </a:br>
            <a:endParaRPr lang="en-IN" sz="24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97CF2D-3FBA-4B8B-A33A-8DCDCA9A8F2E}" type="datetime1">
              <a:rPr lang="en-IN" smtClean="0"/>
            </a:fld>
            <a:endParaRPr lang="en-IN"/>
          </a:p>
        </p:txBody>
      </p:sp>
      <p:sp>
        <p:nvSpPr>
          <p:cNvPr id="3" name="Slide Number Placeholder 2"/>
          <p:cNvSpPr>
            <a:spLocks noGrp="1"/>
          </p:cNvSpPr>
          <p:nvPr>
            <p:ph type="sldNum" sz="quarter" idx="12"/>
          </p:nvPr>
        </p:nvSpPr>
        <p:spPr/>
        <p:txBody>
          <a:bodyPr/>
          <a:lstStyle/>
          <a:p>
            <a:fld id="{E4371DF9-27D1-4286-99A9-B07A2966053B}" type="slidenum">
              <a:rPr lang="en-IN" smtClean="0"/>
            </a:fld>
            <a:endParaRPr lang="en-IN"/>
          </a:p>
        </p:txBody>
      </p:sp>
      <p:graphicFrame>
        <p:nvGraphicFramePr>
          <p:cNvPr id="5" name="Table 4"/>
          <p:cNvGraphicFramePr>
            <a:graphicFrameLocks noGrp="1"/>
          </p:cNvGraphicFramePr>
          <p:nvPr/>
        </p:nvGraphicFramePr>
        <p:xfrm>
          <a:off x="629261" y="909499"/>
          <a:ext cx="10854813" cy="5852160"/>
        </p:xfrm>
        <a:graphic>
          <a:graphicData uri="http://schemas.openxmlformats.org/drawingml/2006/table">
            <a:tbl>
              <a:tblPr firstRow="1" bandRow="1">
                <a:tableStyleId>{5C22544A-7EE6-4342-B048-85BDC9FD1C3A}</a:tableStyleId>
              </a:tblPr>
              <a:tblGrid>
                <a:gridCol w="790159"/>
                <a:gridCol w="3245483"/>
                <a:gridCol w="2061162"/>
                <a:gridCol w="2436795"/>
                <a:gridCol w="2321214"/>
              </a:tblGrid>
              <a:tr h="353417">
                <a:tc>
                  <a:txBody>
                    <a:bodyPr/>
                    <a:lstStyle/>
                    <a:p>
                      <a:pPr algn="just"/>
                      <a:r>
                        <a:rPr lang="en-IN" dirty="0" err="1">
                          <a:solidFill>
                            <a:srgbClr val="002060"/>
                          </a:solidFill>
                          <a:latin typeface="Times New Roman" panose="02020603050405020304" pitchFamily="18" charset="0"/>
                          <a:cs typeface="Times New Roman" panose="02020603050405020304" pitchFamily="18" charset="0"/>
                        </a:rPr>
                        <a:t>Si.No</a:t>
                      </a:r>
                      <a:endParaRPr lang="en-IN"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IN" dirty="0">
                          <a:solidFill>
                            <a:srgbClr val="002060"/>
                          </a:solidFill>
                          <a:latin typeface="Times New Roman" panose="02020603050405020304" pitchFamily="18" charset="0"/>
                          <a:cs typeface="Times New Roman" panose="02020603050405020304" pitchFamily="18" charset="0"/>
                        </a:rPr>
                        <a:t>            Title and Author’s</a:t>
                      </a:r>
                      <a:endParaRPr lang="en-IN"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IN" sz="1800" dirty="0">
                          <a:solidFill>
                            <a:srgbClr val="002060"/>
                          </a:solidFill>
                          <a:latin typeface="Times New Roman" panose="02020603050405020304" pitchFamily="18" charset="0"/>
                          <a:cs typeface="Times New Roman" panose="02020603050405020304" pitchFamily="18" charset="0"/>
                        </a:rPr>
                        <a:t>     Paper Details</a:t>
                      </a:r>
                      <a:endParaRPr lang="en-IN" sz="1800"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IN" dirty="0">
                          <a:solidFill>
                            <a:srgbClr val="002060"/>
                          </a:solidFill>
                          <a:latin typeface="Times New Roman" panose="02020603050405020304" pitchFamily="18" charset="0"/>
                          <a:cs typeface="Times New Roman" panose="02020603050405020304" pitchFamily="18" charset="0"/>
                        </a:rPr>
                        <a:t>    Description</a:t>
                      </a:r>
                      <a:endParaRPr lang="en-IN"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IN" dirty="0">
                          <a:solidFill>
                            <a:srgbClr val="002060"/>
                          </a:solidFill>
                          <a:latin typeface="Times New Roman" panose="02020603050405020304" pitchFamily="18" charset="0"/>
                          <a:cs typeface="Times New Roman" panose="02020603050405020304" pitchFamily="18" charset="0"/>
                        </a:rPr>
                        <a:t>    Key Findings</a:t>
                      </a:r>
                      <a:endParaRPr lang="en-IN" dirty="0">
                        <a:solidFill>
                          <a:srgbClr val="002060"/>
                        </a:solidFill>
                        <a:latin typeface="Times New Roman" panose="02020603050405020304" pitchFamily="18" charset="0"/>
                        <a:cs typeface="Times New Roman" panose="02020603050405020304" pitchFamily="18" charset="0"/>
                      </a:endParaRPr>
                    </a:p>
                  </a:txBody>
                  <a:tcPr/>
                </a:tc>
              </a:tr>
              <a:tr h="3004040">
                <a:tc>
                  <a:txBody>
                    <a:bodyPr/>
                    <a:lstStyle/>
                    <a:p>
                      <a:pPr algn="just"/>
                      <a:r>
                        <a:rPr lang="en-IN" dirty="0">
                          <a:solidFill>
                            <a:srgbClr val="002060"/>
                          </a:solidFill>
                          <a:latin typeface="Times New Roman" panose="02020603050405020304" pitchFamily="18" charset="0"/>
                          <a:cs typeface="Times New Roman" panose="02020603050405020304" pitchFamily="18" charset="0"/>
                        </a:rPr>
                        <a:t>1.</a:t>
                      </a:r>
                      <a:endParaRPr lang="en-IN"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IN" u="sng" dirty="0">
                          <a:solidFill>
                            <a:srgbClr val="002060"/>
                          </a:solidFill>
                          <a:latin typeface="Times New Roman" panose="02020603050405020304" pitchFamily="18" charset="0"/>
                          <a:cs typeface="Times New Roman" panose="02020603050405020304" pitchFamily="18" charset="0"/>
                        </a:rPr>
                        <a:t>Title:</a:t>
                      </a:r>
                      <a:r>
                        <a:rPr lang="en-US" sz="1200" b="0" dirty="0">
                          <a:solidFill>
                            <a:srgbClr val="002060"/>
                          </a:solidFill>
                          <a:latin typeface="Times New Roman" panose="02020603050405020304" pitchFamily="18" charset="0"/>
                          <a:cs typeface="Times New Roman" panose="02020603050405020304" pitchFamily="18" charset="0"/>
                        </a:rPr>
                        <a:t>Charge Scheduling Optimization of Electric Vehicles.</a:t>
                      </a:r>
                      <a:endParaRPr lang="en-IN" sz="1200" b="0" u="sng" dirty="0">
                        <a:solidFill>
                          <a:srgbClr val="002060"/>
                        </a:solidFill>
                        <a:latin typeface="Times New Roman" panose="02020603050405020304" pitchFamily="18" charset="0"/>
                        <a:cs typeface="Times New Roman" panose="02020603050405020304" pitchFamily="18" charset="0"/>
                      </a:endParaRPr>
                    </a:p>
                    <a:p>
                      <a:pPr algn="just"/>
                      <a:r>
                        <a:rPr lang="en-IN" u="sng" dirty="0" err="1">
                          <a:solidFill>
                            <a:srgbClr val="002060"/>
                          </a:solidFill>
                          <a:latin typeface="Times New Roman" panose="02020603050405020304" pitchFamily="18" charset="0"/>
                          <a:cs typeface="Times New Roman" panose="02020603050405020304" pitchFamily="18" charset="0"/>
                        </a:rPr>
                        <a:t>Author’s:</a:t>
                      </a:r>
                      <a:r>
                        <a:rPr lang="en-IN" sz="1200" dirty="0" err="1">
                          <a:solidFill>
                            <a:srgbClr val="002060"/>
                          </a:solidFill>
                          <a:latin typeface="Times New Roman" panose="02020603050405020304" pitchFamily="18" charset="0"/>
                          <a:cs typeface="Times New Roman" panose="02020603050405020304" pitchFamily="18" charset="0"/>
                        </a:rPr>
                        <a:t>Shereen</a:t>
                      </a:r>
                      <a:r>
                        <a:rPr lang="en-IN" sz="1200" dirty="0">
                          <a:solidFill>
                            <a:srgbClr val="002060"/>
                          </a:solidFill>
                          <a:latin typeface="Times New Roman" panose="02020603050405020304" pitchFamily="18" charset="0"/>
                          <a:cs typeface="Times New Roman" panose="02020603050405020304" pitchFamily="18" charset="0"/>
                        </a:rPr>
                        <a:t> </a:t>
                      </a:r>
                      <a:r>
                        <a:rPr lang="en-IN" sz="1200" dirty="0" err="1">
                          <a:solidFill>
                            <a:srgbClr val="002060"/>
                          </a:solidFill>
                          <a:latin typeface="Times New Roman" panose="02020603050405020304" pitchFamily="18" charset="0"/>
                          <a:cs typeface="Times New Roman" panose="02020603050405020304" pitchFamily="18" charset="0"/>
                        </a:rPr>
                        <a:t>Siddhara</a:t>
                      </a:r>
                      <a:r>
                        <a:rPr lang="en-IN" sz="1200" dirty="0">
                          <a:solidFill>
                            <a:srgbClr val="002060"/>
                          </a:solidFill>
                          <a:latin typeface="Times New Roman" panose="02020603050405020304" pitchFamily="18" charset="0"/>
                          <a:cs typeface="Times New Roman" panose="02020603050405020304" pitchFamily="18" charset="0"/>
                        </a:rPr>
                        <a:t> Abdul Salam, Veena Raj, Mohammad Iskandar Petra, Abul Kalam Azad, </a:t>
                      </a:r>
                      <a:r>
                        <a:rPr lang="en-IN" sz="1200" dirty="0" err="1">
                          <a:solidFill>
                            <a:srgbClr val="002060"/>
                          </a:solidFill>
                          <a:latin typeface="Times New Roman" panose="02020603050405020304" pitchFamily="18" charset="0"/>
                          <a:cs typeface="Times New Roman" panose="02020603050405020304" pitchFamily="18" charset="0"/>
                        </a:rPr>
                        <a:t>Sathyajith</a:t>
                      </a:r>
                      <a:r>
                        <a:rPr lang="en-IN" sz="1200" dirty="0">
                          <a:solidFill>
                            <a:srgbClr val="002060"/>
                          </a:solidFill>
                          <a:latin typeface="Times New Roman" panose="02020603050405020304" pitchFamily="18" charset="0"/>
                          <a:cs typeface="Times New Roman" panose="02020603050405020304" pitchFamily="18" charset="0"/>
                        </a:rPr>
                        <a:t> Mathew, and Sheik Mohammed </a:t>
                      </a:r>
                      <a:r>
                        <a:rPr lang="en-IN" sz="1200" dirty="0" err="1">
                          <a:solidFill>
                            <a:srgbClr val="002060"/>
                          </a:solidFill>
                          <a:latin typeface="Times New Roman" panose="02020603050405020304" pitchFamily="18" charset="0"/>
                          <a:cs typeface="Times New Roman" panose="02020603050405020304" pitchFamily="18" charset="0"/>
                        </a:rPr>
                        <a:t>Sulthan</a:t>
                      </a:r>
                      <a:endParaRPr lang="en-IN" sz="1200" u="sng"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200" i="0" dirty="0">
                          <a:solidFill>
                            <a:srgbClr val="002060"/>
                          </a:solidFill>
                          <a:latin typeface="Times New Roman" panose="02020603050405020304" pitchFamily="18" charset="0"/>
                          <a:cs typeface="Times New Roman" panose="02020603050405020304" pitchFamily="18" charset="0"/>
                        </a:rPr>
                        <a:t>Published in IEEE Access, 2024</a:t>
                      </a:r>
                      <a:endParaRPr lang="en-US" sz="1200" i="0" dirty="0">
                        <a:solidFill>
                          <a:srgbClr val="002060"/>
                        </a:solidFill>
                        <a:latin typeface="Times New Roman" panose="02020603050405020304" pitchFamily="18" charset="0"/>
                        <a:cs typeface="Times New Roman" panose="02020603050405020304" pitchFamily="18" charset="0"/>
                      </a:endParaRPr>
                    </a:p>
                    <a:p>
                      <a:pPr algn="just"/>
                      <a:r>
                        <a:rPr lang="en-US" sz="1200" i="0" dirty="0">
                          <a:solidFill>
                            <a:srgbClr val="002060"/>
                          </a:solidFill>
                          <a:latin typeface="Times New Roman" panose="02020603050405020304" pitchFamily="18" charset="0"/>
                          <a:cs typeface="Times New Roman" panose="02020603050405020304" pitchFamily="18" charset="0"/>
                        </a:rPr>
                        <a:t>DOI: 10.1109/ACCESS.2024.3433031</a:t>
                      </a:r>
                      <a:endParaRPr lang="en-US" sz="1200" i="0" dirty="0">
                        <a:solidFill>
                          <a:srgbClr val="002060"/>
                        </a:solidFill>
                        <a:latin typeface="Times New Roman" panose="02020603050405020304" pitchFamily="18" charset="0"/>
                        <a:cs typeface="Times New Roman" panose="02020603050405020304" pitchFamily="18" charset="0"/>
                      </a:endParaRPr>
                    </a:p>
                    <a:p>
                      <a:pPr algn="just"/>
                      <a:endParaRPr lang="en-IN" i="0"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200" dirty="0">
                          <a:solidFill>
                            <a:srgbClr val="002060"/>
                          </a:solidFill>
                          <a:latin typeface="Times New Roman" panose="02020603050405020304" pitchFamily="18" charset="0"/>
                          <a:cs typeface="Times New Roman" panose="02020603050405020304" pitchFamily="18" charset="0"/>
                        </a:rPr>
                        <a:t>This paper presents a comprehensive review of electric vehicle (EV) charge scheduling optimization, highlighting its growing importance in the shift toward sustainable transportation.</a:t>
                      </a:r>
                      <a:endParaRPr lang="en-IN" sz="1200" dirty="0">
                        <a:solidFill>
                          <a:srgbClr val="002060"/>
                        </a:solidFill>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US" sz="1200" dirty="0">
                          <a:solidFill>
                            <a:srgbClr val="002060"/>
                          </a:solidFill>
                          <a:latin typeface="Times New Roman" panose="02020603050405020304" pitchFamily="18" charset="0"/>
                          <a:cs typeface="Times New Roman" panose="02020603050405020304" pitchFamily="18" charset="0"/>
                        </a:rPr>
                        <a:t>Uncoordinated EV charging can overload the grid, cause voltage drops, and lead to energy losses. Coordinated charging strategies  help optimize grid use and maintain stability.</a:t>
                      </a:r>
                      <a:endParaRPr lang="en-US" sz="1200" dirty="0">
                        <a:solidFill>
                          <a:srgbClr val="002060"/>
                        </a:solidFill>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sz="1200" dirty="0">
                        <a:solidFill>
                          <a:srgbClr val="002060"/>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dirty="0">
                          <a:solidFill>
                            <a:srgbClr val="002060"/>
                          </a:solidFill>
                          <a:latin typeface="Times New Roman" panose="02020603050405020304" pitchFamily="18" charset="0"/>
                          <a:cs typeface="Times New Roman" panose="02020603050405020304" pitchFamily="18" charset="0"/>
                        </a:rPr>
                        <a:t>AI-based models, especially Machine Learning (ML)  are increasingly used to optimize charging decisions in real time, predict demand, and manage user priorities and grid constraints</a:t>
                      </a:r>
                      <a:endParaRPr lang="en-US" sz="1200" dirty="0">
                        <a:solidFill>
                          <a:srgbClr val="002060"/>
                        </a:solidFill>
                        <a:latin typeface="Times New Roman" panose="02020603050405020304" pitchFamily="18" charset="0"/>
                        <a:cs typeface="Times New Roman" panose="02020603050405020304" pitchFamily="18" charset="0"/>
                      </a:endParaRPr>
                    </a:p>
                    <a:p>
                      <a:pPr algn="just"/>
                      <a:endParaRPr lang="en-IN" dirty="0">
                        <a:solidFill>
                          <a:srgbClr val="002060"/>
                        </a:solidFill>
                        <a:latin typeface="Times New Roman" panose="02020603050405020304" pitchFamily="18" charset="0"/>
                        <a:cs typeface="Times New Roman" panose="02020603050405020304" pitchFamily="18" charset="0"/>
                      </a:endParaRPr>
                    </a:p>
                  </a:txBody>
                  <a:tcPr/>
                </a:tc>
              </a:tr>
              <a:tr h="2297207">
                <a:tc>
                  <a:txBody>
                    <a:bodyPr/>
                    <a:lstStyle/>
                    <a:p>
                      <a:pPr algn="just"/>
                      <a:r>
                        <a:rPr lang="en-IN" dirty="0">
                          <a:solidFill>
                            <a:srgbClr val="002060"/>
                          </a:solidFill>
                          <a:latin typeface="Times New Roman" panose="02020603050405020304" pitchFamily="18" charset="0"/>
                          <a:cs typeface="Times New Roman" panose="02020603050405020304" pitchFamily="18" charset="0"/>
                        </a:rPr>
                        <a:t>2.</a:t>
                      </a:r>
                      <a:endParaRPr lang="en-IN"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IN" u="sng" dirty="0">
                          <a:solidFill>
                            <a:srgbClr val="002060"/>
                          </a:solidFill>
                          <a:latin typeface="Times New Roman" panose="02020603050405020304" pitchFamily="18" charset="0"/>
                          <a:cs typeface="Times New Roman" panose="02020603050405020304" pitchFamily="18" charset="0"/>
                        </a:rPr>
                        <a:t>Title:</a:t>
                      </a:r>
                      <a:r>
                        <a:rPr lang="en-US" sz="1200" dirty="0">
                          <a:solidFill>
                            <a:srgbClr val="002060"/>
                          </a:solidFill>
                          <a:latin typeface="Times New Roman" panose="02020603050405020304" pitchFamily="18" charset="0"/>
                          <a:cs typeface="Times New Roman" panose="02020603050405020304" pitchFamily="18" charset="0"/>
                        </a:rPr>
                        <a:t>Review of Electric Vehicle Charging Technologies, Standards, Architectures, and Converter Configurations</a:t>
                      </a:r>
                      <a:endParaRPr lang="en-IN" sz="1200" u="sng" dirty="0">
                        <a:solidFill>
                          <a:srgbClr val="002060"/>
                        </a:solidFill>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lang="en-IN" u="sng" dirty="0">
                          <a:solidFill>
                            <a:srgbClr val="002060"/>
                          </a:solidFill>
                          <a:latin typeface="Times New Roman" panose="02020603050405020304" pitchFamily="18" charset="0"/>
                          <a:cs typeface="Times New Roman" panose="02020603050405020304" pitchFamily="18" charset="0"/>
                        </a:rPr>
                        <a:t>Author’s:</a:t>
                      </a:r>
                      <a:r>
                        <a:rPr lang="en-US" sz="1200" dirty="0">
                          <a:solidFill>
                            <a:srgbClr val="002060"/>
                          </a:solidFill>
                          <a:latin typeface="Times New Roman" panose="02020603050405020304" pitchFamily="18" charset="0"/>
                          <a:cs typeface="Times New Roman" panose="02020603050405020304" pitchFamily="18" charset="0"/>
                        </a:rPr>
                        <a:t>M. S. Altaf, S. S. Dash, and S. </a:t>
                      </a:r>
                      <a:r>
                        <a:rPr lang="en-US" sz="1200" dirty="0" err="1">
                          <a:solidFill>
                            <a:srgbClr val="002060"/>
                          </a:solidFill>
                          <a:latin typeface="Times New Roman" panose="02020603050405020304" pitchFamily="18" charset="0"/>
                          <a:cs typeface="Times New Roman" panose="02020603050405020304" pitchFamily="18" charset="0"/>
                        </a:rPr>
                        <a:t>Pattnaik</a:t>
                      </a:r>
                      <a:endParaRPr lang="en-US" sz="1200" dirty="0">
                        <a:solidFill>
                          <a:srgbClr val="002060"/>
                        </a:solidFill>
                        <a:latin typeface="Times New Roman" panose="02020603050405020304" pitchFamily="18" charset="0"/>
                        <a:cs typeface="Times New Roman" panose="02020603050405020304" pitchFamily="18" charset="0"/>
                      </a:endParaRPr>
                    </a:p>
                    <a:p>
                      <a:pPr algn="just"/>
                      <a:endParaRPr lang="en-IN"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200" dirty="0">
                          <a:solidFill>
                            <a:srgbClr val="002060"/>
                          </a:solidFill>
                          <a:latin typeface="Times New Roman" panose="02020603050405020304" pitchFamily="18" charset="0"/>
                          <a:cs typeface="Times New Roman" panose="02020603050405020304" pitchFamily="18" charset="0"/>
                        </a:rPr>
                        <a:t>2022 International Conference on Smart Technologies and Systems for Next Generation Computing (ICSTSN)</a:t>
                      </a:r>
                      <a:endParaRPr lang="en-US" sz="1200" dirty="0">
                        <a:solidFill>
                          <a:srgbClr val="002060"/>
                        </a:solidFill>
                        <a:latin typeface="Times New Roman" panose="02020603050405020304" pitchFamily="18" charset="0"/>
                        <a:cs typeface="Times New Roman" panose="02020603050405020304" pitchFamily="18" charset="0"/>
                      </a:endParaRPr>
                    </a:p>
                    <a:p>
                      <a:pPr algn="just"/>
                      <a:r>
                        <a:rPr lang="en-US" sz="1200" dirty="0">
                          <a:solidFill>
                            <a:srgbClr val="002060"/>
                          </a:solidFill>
                          <a:latin typeface="Times New Roman" panose="02020603050405020304" pitchFamily="18" charset="0"/>
                          <a:cs typeface="Times New Roman" panose="02020603050405020304" pitchFamily="18" charset="0"/>
                        </a:rPr>
                        <a:t>DOI:</a:t>
                      </a:r>
                      <a:endParaRPr lang="en-US" sz="1200" dirty="0">
                        <a:solidFill>
                          <a:srgbClr val="002060"/>
                        </a:solidFill>
                        <a:latin typeface="Times New Roman" panose="02020603050405020304" pitchFamily="18" charset="0"/>
                        <a:cs typeface="Times New Roman" panose="02020603050405020304" pitchFamily="18" charset="0"/>
                      </a:endParaRPr>
                    </a:p>
                    <a:p>
                      <a:pPr algn="just"/>
                      <a:r>
                        <a:rPr lang="en-US" sz="1200" dirty="0">
                          <a:solidFill>
                            <a:srgbClr val="002060"/>
                          </a:solidFill>
                          <a:latin typeface="Times New Roman" panose="02020603050405020304" pitchFamily="18" charset="0"/>
                          <a:cs typeface="Times New Roman" panose="02020603050405020304" pitchFamily="18" charset="0"/>
                        </a:rPr>
                        <a:t>10.1109/ICSTSN54951.2022.9780481</a:t>
                      </a:r>
                      <a:endParaRPr lang="en-US" sz="1200" dirty="0">
                        <a:solidFill>
                          <a:srgbClr val="002060"/>
                        </a:solidFill>
                        <a:latin typeface="Times New Roman" panose="02020603050405020304" pitchFamily="18" charset="0"/>
                        <a:cs typeface="Times New Roman" panose="02020603050405020304" pitchFamily="18" charset="0"/>
                      </a:endParaRPr>
                    </a:p>
                    <a:p>
                      <a:pPr algn="just"/>
                      <a:endParaRPr lang="en-IN"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200" dirty="0">
                          <a:solidFill>
                            <a:srgbClr val="002060"/>
                          </a:solidFill>
                          <a:latin typeface="Times New Roman" panose="02020603050405020304" pitchFamily="18" charset="0"/>
                          <a:cs typeface="Times New Roman" panose="02020603050405020304" pitchFamily="18" charset="0"/>
                        </a:rPr>
                        <a:t>This paper presents an AI-based control system for managing power in electric vehicle (EV) charging stations using multiple energy sources such as solar, wind, and the utility grid. The proposed model ensures efficient energy use, reduces environmental impact, and improves the sustainability and reliability of EV charging by dynamically selecting the most optimal power source in real time.</a:t>
                      </a:r>
                      <a:endParaRPr lang="en-IN" sz="1200" dirty="0">
                        <a:solidFill>
                          <a:srgbClr val="002060"/>
                        </a:solidFill>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US" sz="1200" b="0" dirty="0">
                          <a:solidFill>
                            <a:srgbClr val="002060"/>
                          </a:solidFill>
                          <a:latin typeface="Times New Roman" panose="02020603050405020304" pitchFamily="18" charset="0"/>
                          <a:cs typeface="Times New Roman" panose="02020603050405020304" pitchFamily="18" charset="0"/>
                        </a:rPr>
                        <a:t>AI-based control system</a:t>
                      </a:r>
                      <a:r>
                        <a:rPr lang="en-US" sz="1200" dirty="0">
                          <a:solidFill>
                            <a:srgbClr val="002060"/>
                          </a:solidFill>
                          <a:latin typeface="Times New Roman" panose="02020603050405020304" pitchFamily="18" charset="0"/>
                          <a:cs typeface="Times New Roman" panose="02020603050405020304" pitchFamily="18" charset="0"/>
                        </a:rPr>
                        <a:t> enables real-time selection of optimal power sources (solar, wind, grid), improving energy efficiency in EV charging stations.</a:t>
                      </a:r>
                      <a:endParaRPr lang="en-US" sz="1200" dirty="0">
                        <a:solidFill>
                          <a:srgbClr val="002060"/>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b="0" dirty="0">
                          <a:solidFill>
                            <a:srgbClr val="002060"/>
                          </a:solidFill>
                          <a:latin typeface="Times New Roman" panose="02020603050405020304" pitchFamily="18" charset="0"/>
                          <a:cs typeface="Times New Roman" panose="02020603050405020304" pitchFamily="18" charset="0"/>
                        </a:rPr>
                        <a:t>Integration of renewable energy </a:t>
                      </a:r>
                      <a:r>
                        <a:rPr lang="en-US" sz="1200" dirty="0">
                          <a:solidFill>
                            <a:srgbClr val="002060"/>
                          </a:solidFill>
                          <a:latin typeface="Times New Roman" panose="02020603050405020304" pitchFamily="18" charset="0"/>
                          <a:cs typeface="Times New Roman" panose="02020603050405020304" pitchFamily="18" charset="0"/>
                        </a:rPr>
                        <a:t>reduces dependency on the conventional grid, promoting sustainability and lowering carbon emissions.</a:t>
                      </a:r>
                      <a:endParaRPr lang="en-US" sz="1200" dirty="0">
                        <a:solidFill>
                          <a:srgbClr val="002060"/>
                        </a:solidFill>
                        <a:latin typeface="Times New Roman" panose="02020603050405020304" pitchFamily="18" charset="0"/>
                        <a:cs typeface="Times New Roman" panose="02020603050405020304" pitchFamily="18" charset="0"/>
                      </a:endParaRPr>
                    </a:p>
                    <a:p>
                      <a:pPr algn="just"/>
                      <a:endParaRPr lang="en-IN" dirty="0">
                        <a:solidFill>
                          <a:srgbClr val="002060"/>
                        </a:solidFill>
                        <a:latin typeface="Times New Roman" panose="02020603050405020304" pitchFamily="18" charset="0"/>
                        <a:cs typeface="Times New Roman" panose="02020603050405020304" pitchFamily="18" charset="0"/>
                      </a:endParaRPr>
                    </a:p>
                  </a:txBody>
                  <a:tcPr/>
                </a:tc>
              </a:tr>
            </a:tbl>
          </a:graphicData>
        </a:graphic>
      </p:graphicFrame>
      <p:sp>
        <p:nvSpPr>
          <p:cNvPr id="4" name="Title 1"/>
          <p:cNvSpPr txBox="1"/>
          <p:nvPr/>
        </p:nvSpPr>
        <p:spPr>
          <a:xfrm>
            <a:off x="838200" y="0"/>
            <a:ext cx="10016613" cy="86931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IN" sz="2400" b="1" dirty="0">
                <a:solidFill>
                  <a:srgbClr val="002060"/>
                </a:solidFill>
                <a:latin typeface="Times New Roman" panose="02020603050405020304" pitchFamily="18" charset="0"/>
                <a:cs typeface="Times New Roman" panose="02020603050405020304" pitchFamily="18" charset="0"/>
              </a:rPr>
            </a:br>
            <a:r>
              <a:rPr lang="en-IN" sz="2400" b="1" dirty="0">
                <a:solidFill>
                  <a:srgbClr val="002060"/>
                </a:solidFill>
                <a:latin typeface="Times New Roman" panose="02020603050405020304" pitchFamily="18" charset="0"/>
                <a:cs typeface="Times New Roman" panose="02020603050405020304" pitchFamily="18" charset="0"/>
              </a:rPr>
              <a:t>Literature Survey:</a:t>
            </a:r>
            <a:br>
              <a:rPr lang="en-IN" sz="2400" b="1" dirty="0">
                <a:solidFill>
                  <a:srgbClr val="002060"/>
                </a:solidFill>
                <a:latin typeface="Times New Roman" panose="02020603050405020304" pitchFamily="18" charset="0"/>
                <a:cs typeface="Times New Roman" panose="02020603050405020304" pitchFamily="18" charset="0"/>
              </a:rPr>
            </a:br>
            <a:endParaRPr lang="en-IN" sz="24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
        <p:nvSpPr>
          <p:cNvPr id="6" name="Title 1"/>
          <p:cNvSpPr>
            <a:spLocks noGrp="1"/>
          </p:cNvSpPr>
          <p:nvPr>
            <p:ph type="title"/>
          </p:nvPr>
        </p:nvSpPr>
        <p:spPr>
          <a:xfrm>
            <a:off x="838200" y="136524"/>
            <a:ext cx="10203426" cy="984351"/>
          </a:xfrm>
        </p:spPr>
        <p:txBody>
          <a:bodyPr>
            <a:noAutofit/>
          </a:bodyPr>
          <a:lstStyle/>
          <a:p>
            <a:br>
              <a:rPr lang="en-IN" sz="2400" b="1" dirty="0">
                <a:solidFill>
                  <a:srgbClr val="002060"/>
                </a:solidFill>
                <a:latin typeface="Times New Roman" panose="02020603050405020304" pitchFamily="18" charset="0"/>
                <a:cs typeface="Times New Roman" panose="02020603050405020304" pitchFamily="18" charset="0"/>
              </a:rPr>
            </a:br>
            <a:r>
              <a:rPr lang="en-IN" sz="2400" b="1" dirty="0">
                <a:solidFill>
                  <a:srgbClr val="002060"/>
                </a:solidFill>
                <a:latin typeface="Times New Roman" panose="02020603050405020304" pitchFamily="18" charset="0"/>
                <a:cs typeface="Times New Roman" panose="02020603050405020304" pitchFamily="18" charset="0"/>
              </a:rPr>
              <a:t>Block Diagram:</a:t>
            </a:r>
            <a:br>
              <a:rPr lang="en-IN" sz="2400" b="1" dirty="0">
                <a:solidFill>
                  <a:srgbClr val="002060"/>
                </a:solidFill>
                <a:latin typeface="Times New Roman" panose="02020603050405020304" pitchFamily="18" charset="0"/>
                <a:cs typeface="Times New Roman" panose="02020603050405020304" pitchFamily="18" charset="0"/>
              </a:rPr>
            </a:b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936954" y="1563329"/>
            <a:ext cx="1302773" cy="673508"/>
          </a:xfrm>
          <a:prstGeom prst="rect">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Solar Panel</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1936954" y="3623085"/>
            <a:ext cx="1302774" cy="6735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Ac Supply</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5756787" y="1563329"/>
            <a:ext cx="1302773" cy="6735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DC-DC converter</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8610599" y="3613748"/>
            <a:ext cx="1337187" cy="69061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Web Server Interface</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16" name="Oval 15"/>
          <p:cNvSpPr/>
          <p:nvPr/>
        </p:nvSpPr>
        <p:spPr>
          <a:xfrm>
            <a:off x="5859238" y="3496056"/>
            <a:ext cx="1114217" cy="92423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latin typeface="Times New Roman" panose="02020603050405020304" pitchFamily="18" charset="0"/>
                <a:cs typeface="Times New Roman" panose="02020603050405020304" pitchFamily="18" charset="0"/>
              </a:rPr>
              <a:t>ESP32</a:t>
            </a:r>
            <a:endParaRPr lang="en-IN" sz="1200" dirty="0" smtClean="0">
              <a:solidFill>
                <a:schemeClr val="tx1"/>
              </a:solidFill>
              <a:latin typeface="Times New Roman" panose="02020603050405020304" pitchFamily="18" charset="0"/>
              <a:cs typeface="Times New Roman" panose="02020603050405020304" pitchFamily="18" charset="0"/>
            </a:endParaRPr>
          </a:p>
          <a:p>
            <a:pPr algn="ctr"/>
            <a:r>
              <a:rPr lang="en-IN" sz="1200" dirty="0" smtClean="0">
                <a:solidFill>
                  <a:schemeClr val="tx1"/>
                </a:solidFill>
                <a:latin typeface="Times New Roman" panose="02020603050405020304" pitchFamily="18" charset="0"/>
                <a:cs typeface="Times New Roman" panose="02020603050405020304" pitchFamily="18" charset="0"/>
              </a:rPr>
              <a:t>Micro-controller</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5756787" y="5488757"/>
            <a:ext cx="1302774" cy="6735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Load</a:t>
            </a:r>
            <a:endParaRPr lang="en-IN" sz="1200" dirty="0">
              <a:solidFill>
                <a:schemeClr val="tx1"/>
              </a:solidFill>
              <a:latin typeface="Times New Roman" panose="02020603050405020304" pitchFamily="18" charset="0"/>
              <a:cs typeface="Times New Roman" panose="02020603050405020304" pitchFamily="18" charset="0"/>
            </a:endParaRPr>
          </a:p>
        </p:txBody>
      </p:sp>
      <p:cxnSp>
        <p:nvCxnSpPr>
          <p:cNvPr id="22" name="Straight Arrow Connector 21"/>
          <p:cNvCxnSpPr>
            <a:stCxn id="3" idx="3"/>
            <a:endCxn id="11" idx="1"/>
          </p:cNvCxnSpPr>
          <p:nvPr/>
        </p:nvCxnSpPr>
        <p:spPr>
          <a:xfrm>
            <a:off x="3239727" y="1900083"/>
            <a:ext cx="2517060"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p:cNvCxnSpPr>
            <a:stCxn id="11" idx="2"/>
            <a:endCxn id="16" idx="0"/>
          </p:cNvCxnSpPr>
          <p:nvPr/>
        </p:nvCxnSpPr>
        <p:spPr>
          <a:xfrm>
            <a:off x="6408174" y="2236837"/>
            <a:ext cx="8173" cy="125921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p:cNvCxnSpPr>
            <a:stCxn id="16" idx="4"/>
            <a:endCxn id="18" idx="0"/>
          </p:cNvCxnSpPr>
          <p:nvPr/>
        </p:nvCxnSpPr>
        <p:spPr>
          <a:xfrm flipH="1">
            <a:off x="6408174" y="4420289"/>
            <a:ext cx="8173" cy="106846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p:cNvCxnSpPr>
            <a:stCxn id="8" idx="3"/>
            <a:endCxn id="16" idx="2"/>
          </p:cNvCxnSpPr>
          <p:nvPr/>
        </p:nvCxnSpPr>
        <p:spPr>
          <a:xfrm flipV="1">
            <a:off x="3239728" y="3958173"/>
            <a:ext cx="2619510" cy="1666"/>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p:cNvCxnSpPr>
            <a:stCxn id="16" idx="6"/>
            <a:endCxn id="12" idx="1"/>
          </p:cNvCxnSpPr>
          <p:nvPr/>
        </p:nvCxnSpPr>
        <p:spPr>
          <a:xfrm>
            <a:off x="6973455" y="3958173"/>
            <a:ext cx="1637144" cy="882"/>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22505"/>
            <a:ext cx="10515600" cy="4351338"/>
          </a:xfrm>
        </p:spPr>
        <p:txBody>
          <a:bodyPr>
            <a:normAutofit/>
          </a:bodyPr>
          <a:lstStyle/>
          <a:p>
            <a:pPr algn="just"/>
            <a:r>
              <a:rPr lang="en-US" sz="2400" dirty="0">
                <a:solidFill>
                  <a:srgbClr val="002060"/>
                </a:solidFill>
                <a:latin typeface="Times New Roman" panose="02020603050405020304" pitchFamily="18" charset="0"/>
                <a:cs typeface="Times New Roman" panose="02020603050405020304" pitchFamily="18" charset="0"/>
              </a:rPr>
              <a:t>To integrate multiple power sources like solar and grid for reliable EV charging.</a:t>
            </a:r>
            <a:endParaRPr lang="en-US" sz="2400" dirty="0">
              <a:solidFill>
                <a:srgbClr val="002060"/>
              </a:solidFill>
              <a:latin typeface="Times New Roman" panose="02020603050405020304" pitchFamily="18" charset="0"/>
              <a:cs typeface="Times New Roman" panose="02020603050405020304" pitchFamily="18" charset="0"/>
            </a:endParaRPr>
          </a:p>
          <a:p>
            <a:pPr algn="just"/>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en-US" sz="2400" dirty="0">
                <a:solidFill>
                  <a:srgbClr val="002060"/>
                </a:solidFill>
                <a:latin typeface="Times New Roman" panose="02020603050405020304" pitchFamily="18" charset="0"/>
                <a:cs typeface="Times New Roman" panose="02020603050405020304" pitchFamily="18" charset="0"/>
              </a:rPr>
              <a:t>To monitor voltage and current from each source using sensors and ESP32.</a:t>
            </a:r>
            <a:endParaRPr lang="en-US" sz="2400" dirty="0">
              <a:solidFill>
                <a:srgbClr val="002060"/>
              </a:solidFill>
              <a:latin typeface="Times New Roman" panose="02020603050405020304" pitchFamily="18" charset="0"/>
              <a:cs typeface="Times New Roman" panose="02020603050405020304" pitchFamily="18" charset="0"/>
            </a:endParaRPr>
          </a:p>
          <a:p>
            <a:pPr algn="just"/>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en-US" sz="2400" dirty="0">
                <a:solidFill>
                  <a:srgbClr val="002060"/>
                </a:solidFill>
                <a:latin typeface="Times New Roman" panose="02020603050405020304" pitchFamily="18" charset="0"/>
                <a:cs typeface="Times New Roman" panose="02020603050405020304" pitchFamily="18" charset="0"/>
              </a:rPr>
              <a:t>To implement intelligent power management for efficient source selection.</a:t>
            </a:r>
            <a:endParaRPr lang="en-US" sz="2400" dirty="0">
              <a:solidFill>
                <a:srgbClr val="002060"/>
              </a:solidFill>
              <a:latin typeface="Times New Roman" panose="02020603050405020304" pitchFamily="18" charset="0"/>
              <a:cs typeface="Times New Roman" panose="02020603050405020304" pitchFamily="18" charset="0"/>
            </a:endParaRPr>
          </a:p>
          <a:p>
            <a:pPr algn="just"/>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en-US" sz="2400" dirty="0">
                <a:solidFill>
                  <a:srgbClr val="002060"/>
                </a:solidFill>
                <a:latin typeface="Times New Roman" panose="02020603050405020304" pitchFamily="18" charset="0"/>
                <a:cs typeface="Times New Roman" panose="02020603050405020304" pitchFamily="18" charset="0"/>
              </a:rPr>
              <a:t>To prioritize renewable energy usage to improve sustainability and reduce grid dependency.</a:t>
            </a:r>
            <a:endParaRPr lang="en-GB" dirty="0">
              <a:solidFill>
                <a:srgbClr val="00206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
        <p:nvSpPr>
          <p:cNvPr id="8" name="Title 1"/>
          <p:cNvSpPr>
            <a:spLocks noGrp="1"/>
          </p:cNvSpPr>
          <p:nvPr>
            <p:ph type="title"/>
          </p:nvPr>
        </p:nvSpPr>
        <p:spPr>
          <a:xfrm>
            <a:off x="838200" y="136524"/>
            <a:ext cx="10439400" cy="984351"/>
          </a:xfrm>
        </p:spPr>
        <p:txBody>
          <a:bodyPr>
            <a:noAutofit/>
          </a:bodyPr>
          <a:lstStyle/>
          <a:p>
            <a:br>
              <a:rPr lang="en-IN" sz="2400" b="1" dirty="0">
                <a:solidFill>
                  <a:srgbClr val="002060"/>
                </a:solidFill>
                <a:latin typeface="Times New Roman" panose="02020603050405020304" pitchFamily="18" charset="0"/>
                <a:cs typeface="Times New Roman" panose="02020603050405020304" pitchFamily="18" charset="0"/>
              </a:rPr>
            </a:br>
            <a:r>
              <a:rPr lang="en-IN" sz="2400" b="1" dirty="0">
                <a:solidFill>
                  <a:srgbClr val="002060"/>
                </a:solidFill>
                <a:latin typeface="Times New Roman" panose="02020603050405020304" pitchFamily="18" charset="0"/>
                <a:cs typeface="Times New Roman" panose="02020603050405020304" pitchFamily="18" charset="0"/>
              </a:rPr>
              <a:t>Objectives:</a:t>
            </a:r>
            <a:br>
              <a:rPr lang="en-IN" sz="2400" b="1" dirty="0">
                <a:solidFill>
                  <a:srgbClr val="002060"/>
                </a:solidFill>
                <a:latin typeface="Times New Roman" panose="02020603050405020304" pitchFamily="18" charset="0"/>
                <a:cs typeface="Times New Roman" panose="02020603050405020304" pitchFamily="18" charset="0"/>
              </a:rPr>
            </a:br>
            <a:endParaRPr lang="en-IN" sz="24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pic>
        <p:nvPicPr>
          <p:cNvPr id="7" name="Picture 6"/>
          <p:cNvPicPr>
            <a:picLocks noChangeAspect="1"/>
          </p:cNvPicPr>
          <p:nvPr/>
        </p:nvPicPr>
        <p:blipFill>
          <a:blip r:embed="rId1"/>
          <a:srcRect l="7235" t="7599" r="12225" b="15843"/>
          <a:stretch>
            <a:fillRect/>
          </a:stretch>
        </p:blipFill>
        <p:spPr>
          <a:xfrm rot="10800000">
            <a:off x="2600631" y="1653309"/>
            <a:ext cx="6990735" cy="4216548"/>
          </a:xfrm>
          <a:prstGeom prst="rect">
            <a:avLst/>
          </a:prstGeom>
        </p:spPr>
      </p:pic>
      <p:sp>
        <p:nvSpPr>
          <p:cNvPr id="2" name="TextBox 1"/>
          <p:cNvSpPr txBox="1"/>
          <p:nvPr/>
        </p:nvSpPr>
        <p:spPr>
          <a:xfrm>
            <a:off x="838199" y="526473"/>
            <a:ext cx="4518891" cy="461665"/>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Prototype:</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6133"/>
            <a:ext cx="10515600" cy="1325563"/>
          </a:xfrm>
        </p:spPr>
        <p:txBody>
          <a:bodyPr>
            <a:normAutofit/>
          </a:bodyPr>
          <a:lstStyle/>
          <a:p>
            <a:r>
              <a:rPr lang="en-US" sz="2400" b="1" dirty="0">
                <a:solidFill>
                  <a:srgbClr val="002060"/>
                </a:solidFill>
                <a:latin typeface="Times New Roman" panose="02020603050405020304" pitchFamily="18" charset="0"/>
                <a:cs typeface="Times New Roman" panose="02020603050405020304" pitchFamily="18" charset="0"/>
              </a:rPr>
              <a:t>Output:</a:t>
            </a:r>
            <a:endParaRPr lang="en-US" sz="2400" b="1" dirty="0">
              <a:solidFill>
                <a:srgbClr val="00206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
        <p:nvSpPr>
          <p:cNvPr id="3" name="AutoShape 2" descr="blob:https://web.whatsapp.com/af47f473-1fd3-415c-a042-32bfadd9b8ab"/>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AutoShape 4" descr="blob:https://web.whatsapp.com/af47f473-1fd3-415c-a042-32bfadd9b8ab"/>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 name="Content Placeholder 5"/>
          <p:cNvPicPr>
            <a:picLocks noChangeAspect="1"/>
          </p:cNvPicPr>
          <p:nvPr/>
        </p:nvPicPr>
        <p:blipFill rotWithShape="1">
          <a:blip r:embed="rId1"/>
          <a:srcRect l="242" t="34414" r="222" b="30594"/>
          <a:stretch>
            <a:fillRect/>
          </a:stretch>
        </p:blipFill>
        <p:spPr>
          <a:xfrm>
            <a:off x="6449291" y="1838469"/>
            <a:ext cx="4477327" cy="3315421"/>
          </a:xfrm>
          <a:prstGeom prst="rect">
            <a:avLst/>
          </a:prstGeom>
        </p:spPr>
      </p:pic>
      <p:pic>
        <p:nvPicPr>
          <p:cNvPr id="12" name="Content Placeholder 1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825625"/>
            <a:ext cx="4518892" cy="3328265"/>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a:solidFill>
                  <a:srgbClr val="002060"/>
                </a:solidFill>
                <a:latin typeface="Times New Roman" panose="02020603050405020304" pitchFamily="18" charset="0"/>
                <a:cs typeface="Times New Roman" panose="02020603050405020304" pitchFamily="18" charset="0"/>
              </a:rPr>
              <a:t>Conference Acceptance &amp; Publication Status:</a:t>
            </a:r>
            <a:endParaRPr lang="en-US" sz="24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48649"/>
            <a:ext cx="10515600" cy="4351338"/>
          </a:xfrm>
        </p:spPr>
        <p:txBody>
          <a:bodyPr>
            <a:normAutofit/>
          </a:bodyPr>
          <a:lstStyle/>
          <a:p>
            <a:r>
              <a:rPr lang="en-GB" sz="2400" dirty="0">
                <a:solidFill>
                  <a:srgbClr val="002060"/>
                </a:solidFill>
                <a:latin typeface="Times New Roman" panose="02020603050405020304" pitchFamily="18" charset="0"/>
                <a:cs typeface="Times New Roman" panose="02020603050405020304" pitchFamily="18" charset="0"/>
              </a:rPr>
              <a:t>Paper </a:t>
            </a:r>
            <a:r>
              <a:rPr lang="en-GB" sz="2400" b="1" dirty="0">
                <a:solidFill>
                  <a:srgbClr val="002060"/>
                </a:solidFill>
                <a:latin typeface="Times New Roman" panose="02020603050405020304" pitchFamily="18" charset="0"/>
                <a:cs typeface="Times New Roman" panose="02020603050405020304" pitchFamily="18" charset="0"/>
              </a:rPr>
              <a:t>accepted and presented</a:t>
            </a:r>
            <a:r>
              <a:rPr lang="en-GB" sz="2400" dirty="0">
                <a:solidFill>
                  <a:srgbClr val="002060"/>
                </a:solidFill>
                <a:latin typeface="Times New Roman" panose="02020603050405020304" pitchFamily="18" charset="0"/>
                <a:cs typeface="Times New Roman" panose="02020603050405020304" pitchFamily="18" charset="0"/>
              </a:rPr>
              <a:t> at </a:t>
            </a:r>
            <a:r>
              <a:rPr lang="en-GB" sz="2400" i="1" dirty="0">
                <a:solidFill>
                  <a:srgbClr val="002060"/>
                </a:solidFill>
                <a:latin typeface="Times New Roman" panose="02020603050405020304" pitchFamily="18" charset="0"/>
                <a:cs typeface="Times New Roman" panose="02020603050405020304" pitchFamily="18" charset="0"/>
              </a:rPr>
              <a:t>IEEE EPREC-2026</a:t>
            </a:r>
            <a:r>
              <a:rPr lang="en-GB" sz="2400" dirty="0">
                <a:solidFill>
                  <a:srgbClr val="002060"/>
                </a:solidFill>
                <a:latin typeface="Times New Roman" panose="02020603050405020304" pitchFamily="18" charset="0"/>
                <a:cs typeface="Times New Roman" panose="02020603050405020304" pitchFamily="18" charset="0"/>
              </a:rPr>
              <a:t> (International Conference on Electric Power &amp; Renewable Energy).</a:t>
            </a:r>
            <a:endParaRPr lang="en-GB" sz="2400" dirty="0">
              <a:solidFill>
                <a:srgbClr val="002060"/>
              </a:solidFill>
              <a:latin typeface="Times New Roman" panose="02020603050405020304" pitchFamily="18" charset="0"/>
              <a:cs typeface="Times New Roman" panose="02020603050405020304" pitchFamily="18" charset="0"/>
            </a:endParaRPr>
          </a:p>
          <a:p>
            <a:endParaRPr lang="en-US" sz="2400" dirty="0">
              <a:solidFill>
                <a:srgbClr val="002060"/>
              </a:solidFill>
              <a:latin typeface="Times New Roman" panose="02020603050405020304" pitchFamily="18" charset="0"/>
              <a:cs typeface="Times New Roman" panose="02020603050405020304" pitchFamily="18" charset="0"/>
            </a:endParaRPr>
          </a:p>
          <a:p>
            <a:r>
              <a:rPr lang="en-GB" sz="2400" b="1" dirty="0">
                <a:solidFill>
                  <a:srgbClr val="002060"/>
                </a:solidFill>
                <a:latin typeface="Times New Roman" panose="02020603050405020304" pitchFamily="18" charset="0"/>
                <a:cs typeface="Times New Roman" panose="02020603050405020304" pitchFamily="18" charset="0"/>
              </a:rPr>
              <a:t>Conference publication</a:t>
            </a:r>
            <a:r>
              <a:rPr lang="en-GB" sz="2400" dirty="0">
                <a:solidFill>
                  <a:srgbClr val="002060"/>
                </a:solidFill>
                <a:latin typeface="Times New Roman" panose="02020603050405020304" pitchFamily="18" charset="0"/>
                <a:cs typeface="Times New Roman" panose="02020603050405020304" pitchFamily="18" charset="0"/>
              </a:rPr>
              <a:t> strengthens academic credibility and industry relevance.</a:t>
            </a:r>
            <a:endParaRPr lang="en-US" sz="2400" dirty="0">
              <a:solidFill>
                <a:srgbClr val="00206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1199"/>
            <a:ext cx="10515600" cy="1450109"/>
          </a:xfrm>
        </p:spPr>
        <p:txBody>
          <a:bodyPr>
            <a:normAutofit/>
          </a:bodyPr>
          <a:lstStyle/>
          <a:p>
            <a:r>
              <a:rPr lang="en-US" sz="2000" dirty="0" smtClean="0">
                <a:solidFill>
                  <a:srgbClr val="002060"/>
                </a:solidFill>
                <a:latin typeface="Times New Roman" panose="02020603050405020304" pitchFamily="18" charset="0"/>
                <a:cs typeface="Times New Roman" panose="02020603050405020304" pitchFamily="18" charset="0"/>
              </a:rPr>
              <a:t>This </a:t>
            </a:r>
            <a:r>
              <a:rPr lang="en-US" sz="2000" dirty="0">
                <a:solidFill>
                  <a:srgbClr val="002060"/>
                </a:solidFill>
                <a:latin typeface="Times New Roman" panose="02020603050405020304" pitchFamily="18" charset="0"/>
                <a:cs typeface="Times New Roman" panose="02020603050405020304" pitchFamily="18" charset="0"/>
              </a:rPr>
              <a:t>project titled “AI-Controlled Multi-Source Power Integration in Sustainable EV Charging Stations” has been published in the IEEE Research Paper at IIT </a:t>
            </a:r>
            <a:r>
              <a:rPr lang="en-US" sz="2000" dirty="0" err="1">
                <a:solidFill>
                  <a:srgbClr val="002060"/>
                </a:solidFill>
                <a:latin typeface="Times New Roman" panose="02020603050405020304" pitchFamily="18" charset="0"/>
                <a:cs typeface="Times New Roman" panose="02020603050405020304" pitchFamily="18" charset="0"/>
              </a:rPr>
              <a:t>Bhilai.This</a:t>
            </a:r>
            <a:r>
              <a:rPr lang="en-US" sz="2000" dirty="0">
                <a:solidFill>
                  <a:srgbClr val="002060"/>
                </a:solidFill>
                <a:latin typeface="Times New Roman" panose="02020603050405020304" pitchFamily="18" charset="0"/>
                <a:cs typeface="Times New Roman" panose="02020603050405020304" pitchFamily="18" charset="0"/>
              </a:rPr>
              <a:t> publication highlights our proposed system for integrating multiple power sources to support efficient and sustainable EV charging</a:t>
            </a:r>
            <a:r>
              <a:rPr lang="en-US" sz="1800" dirty="0">
                <a:solidFill>
                  <a:srgbClr val="002060"/>
                </a:solidFill>
                <a:latin typeface="Times New Roman" panose="02020603050405020304" pitchFamily="18" charset="0"/>
                <a:cs typeface="Times New Roman" panose="02020603050405020304" pitchFamily="18" charset="0"/>
              </a:rPr>
              <a:t>.</a:t>
            </a:r>
            <a:endParaRPr lang="en-US" sz="1800" dirty="0"/>
          </a:p>
        </p:txBody>
      </p:sp>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pic>
        <p:nvPicPr>
          <p:cNvPr id="6" name="Content Placeholder 5"/>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3938154" y="2392218"/>
            <a:ext cx="4315691" cy="4119418"/>
          </a:xfrm>
          <a:prstGeom prst="rect">
            <a:avLst/>
          </a:prstGeom>
        </p:spPr>
      </p:pic>
      <p:sp>
        <p:nvSpPr>
          <p:cNvPr id="7" name="TextBox 6"/>
          <p:cNvSpPr txBox="1"/>
          <p:nvPr/>
        </p:nvSpPr>
        <p:spPr>
          <a:xfrm>
            <a:off x="838199" y="341867"/>
            <a:ext cx="4685145" cy="461665"/>
          </a:xfrm>
          <a:prstGeom prst="rect">
            <a:avLst/>
          </a:prstGeom>
          <a:noFill/>
        </p:spPr>
        <p:txBody>
          <a:bodyPr wrap="square" rtlCol="0">
            <a:spAutoFit/>
          </a:bodyPr>
          <a:lstStyle/>
          <a:p>
            <a:r>
              <a:rPr lang="en-IN" sz="2400" b="1" dirty="0">
                <a:solidFill>
                  <a:srgbClr val="002060"/>
                </a:solidFill>
                <a:latin typeface="Times New Roman" panose="02020603050405020304" pitchFamily="18" charset="0"/>
                <a:cs typeface="Times New Roman" panose="02020603050405020304" pitchFamily="18" charset="0"/>
              </a:rPr>
              <a:t>Paper </a:t>
            </a:r>
            <a:r>
              <a:rPr lang="en-IN" sz="2400" b="1" dirty="0" smtClean="0">
                <a:solidFill>
                  <a:srgbClr val="002060"/>
                </a:solidFill>
                <a:latin typeface="Times New Roman" panose="02020603050405020304" pitchFamily="18" charset="0"/>
                <a:cs typeface="Times New Roman" panose="02020603050405020304" pitchFamily="18" charset="0"/>
              </a:rPr>
              <a:t>Publication</a:t>
            </a:r>
            <a:r>
              <a:rPr lang="en-IN" sz="2400" b="1" dirty="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a:t>
            </a:r>
            <a:r>
              <a:rPr lang="en-IN" sz="2400"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at IIT </a:t>
            </a:r>
            <a:r>
              <a:rPr lang="en-IN" sz="2400" b="1" dirty="0" err="1"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Bhilai</a:t>
            </a:r>
            <a:r>
              <a:rPr lang="en-IN" sz="2400"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pic>
        <p:nvPicPr>
          <p:cNvPr id="3" name="Picture 2"/>
          <p:cNvPicPr>
            <a:picLocks noChangeAspect="1"/>
          </p:cNvPicPr>
          <p:nvPr/>
        </p:nvPicPr>
        <p:blipFill>
          <a:blip r:embed="rId1"/>
          <a:stretch>
            <a:fillRect/>
          </a:stretch>
        </p:blipFill>
        <p:spPr>
          <a:xfrm>
            <a:off x="2228514" y="682738"/>
            <a:ext cx="8034751" cy="56441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4338" y="1209362"/>
            <a:ext cx="9623323" cy="5427412"/>
          </a:xfrm>
        </p:spPr>
        <p:txBody>
          <a:bodyPr>
            <a:noAutofit/>
          </a:bodyPr>
          <a:lstStyle/>
          <a:p>
            <a:pPr lvl="0" algn="just" eaLnBrk="0" fontAlgn="base" hangingPunct="0">
              <a:lnSpc>
                <a:spcPct val="100000"/>
              </a:lnSpc>
              <a:spcBef>
                <a:spcPct val="0"/>
              </a:spcBef>
              <a:spcAft>
                <a:spcPct val="0"/>
              </a:spcAft>
              <a:buFont typeface="Wingdings" panose="05000000000000000000" pitchFamily="2" charset="2"/>
              <a:buChar char="v"/>
            </a:pPr>
            <a:r>
              <a:rPr lang="en-US" altLang="en-US" sz="1800" b="1" i="1" dirty="0">
                <a:solidFill>
                  <a:srgbClr val="002060"/>
                </a:solidFill>
                <a:latin typeface="Times New Roman" panose="02020603050405020304" pitchFamily="18" charset="0"/>
                <a:cs typeface="Times New Roman" panose="02020603050405020304" pitchFamily="18" charset="0"/>
              </a:rPr>
              <a:t>2022 – IEEE Transactions on Smart Grid:</a:t>
            </a:r>
            <a:r>
              <a:rPr lang="en-US" altLang="en-US" sz="1800" i="1" dirty="0">
                <a:solidFill>
                  <a:srgbClr val="002060"/>
                </a:solidFill>
                <a:latin typeface="Times New Roman" panose="02020603050405020304" pitchFamily="18" charset="0"/>
                <a:cs typeface="Times New Roman" panose="02020603050405020304" pitchFamily="18" charset="0"/>
              </a:rPr>
              <a:t> AI-based systems can reduce charging costs by 25% through predictive source switching.</a:t>
            </a:r>
            <a:endParaRPr lang="en-US" altLang="en-US" sz="1800" i="1" dirty="0">
              <a:solidFill>
                <a:srgbClr val="002060"/>
              </a:solidFill>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v"/>
            </a:pPr>
            <a:r>
              <a:rPr lang="en-US" altLang="en-US" sz="1800" b="1" i="1" dirty="0">
                <a:solidFill>
                  <a:srgbClr val="002060"/>
                </a:solidFill>
                <a:latin typeface="Times New Roman" panose="02020603050405020304" pitchFamily="18" charset="0"/>
                <a:cs typeface="Times New Roman" panose="02020603050405020304" pitchFamily="18" charset="0"/>
              </a:rPr>
              <a:t>2021 – Elsevier Renewable Energy Journal:</a:t>
            </a:r>
            <a:r>
              <a:rPr lang="en-US" altLang="en-US" sz="1800" i="1" dirty="0">
                <a:solidFill>
                  <a:srgbClr val="002060"/>
                </a:solidFill>
                <a:latin typeface="Times New Roman" panose="02020603050405020304" pitchFamily="18" charset="0"/>
                <a:cs typeface="Times New Roman" panose="02020603050405020304" pitchFamily="18" charset="0"/>
              </a:rPr>
              <a:t> Multi-source hybrid charging stations show improved uptime and energy independence.</a:t>
            </a:r>
            <a:endParaRPr lang="en-US" altLang="en-US" sz="1800" i="1" dirty="0">
              <a:solidFill>
                <a:srgbClr val="002060"/>
              </a:solidFill>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v"/>
            </a:pPr>
            <a:r>
              <a:rPr lang="en-US" altLang="en-US" sz="1800" b="1" i="1" dirty="0">
                <a:solidFill>
                  <a:srgbClr val="002060"/>
                </a:solidFill>
                <a:latin typeface="Times New Roman" panose="02020603050405020304" pitchFamily="18" charset="0"/>
                <a:cs typeface="Times New Roman" panose="02020603050405020304" pitchFamily="18" charset="0"/>
              </a:rPr>
              <a:t>2023 – Journal of Cleaner Production:</a:t>
            </a:r>
            <a:r>
              <a:rPr lang="en-US" altLang="en-US" sz="1800" i="1" dirty="0">
                <a:solidFill>
                  <a:srgbClr val="002060"/>
                </a:solidFill>
                <a:latin typeface="Times New Roman" panose="02020603050405020304" pitchFamily="18" charset="0"/>
                <a:cs typeface="Times New Roman" panose="02020603050405020304" pitchFamily="18" charset="0"/>
              </a:rPr>
              <a:t> Integration of solar with smart control reduced emissions by 30% compared to grid-only systems.</a:t>
            </a:r>
            <a:endParaRPr lang="en-US" altLang="en-US" sz="1800" i="1" dirty="0">
              <a:solidFill>
                <a:srgbClr val="00206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b="1" i="1" dirty="0">
                <a:solidFill>
                  <a:srgbClr val="002060"/>
                </a:solidFill>
                <a:latin typeface="Times New Roman" panose="02020603050405020304" pitchFamily="18" charset="0"/>
                <a:cs typeface="Times New Roman" panose="02020603050405020304" pitchFamily="18" charset="0"/>
              </a:rPr>
              <a:t>2022 – Energy Reports (Elsevier): </a:t>
            </a:r>
            <a:r>
              <a:rPr lang="en-US" sz="1800" i="1" dirty="0">
                <a:solidFill>
                  <a:srgbClr val="002060"/>
                </a:solidFill>
                <a:latin typeface="Times New Roman" panose="02020603050405020304" pitchFamily="18" charset="0"/>
                <a:cs typeface="Times New Roman" panose="02020603050405020304" pitchFamily="18" charset="0"/>
              </a:rPr>
              <a:t>Hybrid systems combining solar and battery storage showed reliable off-grid performance and lower lifecycle costs.</a:t>
            </a:r>
            <a:endParaRPr lang="en-US" sz="1800" b="1" i="1" dirty="0">
              <a:solidFill>
                <a:srgbClr val="00206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b="1" i="1" dirty="0">
                <a:solidFill>
                  <a:srgbClr val="002060"/>
                </a:solidFill>
                <a:latin typeface="Times New Roman" panose="02020603050405020304" pitchFamily="18" charset="0"/>
                <a:cs typeface="Times New Roman" panose="02020603050405020304" pitchFamily="18" charset="0"/>
              </a:rPr>
              <a:t>2023 – Sustainable Cities and Society: </a:t>
            </a:r>
            <a:r>
              <a:rPr lang="en-US" sz="1800" i="1" dirty="0">
                <a:solidFill>
                  <a:srgbClr val="002060"/>
                </a:solidFill>
                <a:latin typeface="Times New Roman" panose="02020603050405020304" pitchFamily="18" charset="0"/>
                <a:cs typeface="Times New Roman" panose="02020603050405020304" pitchFamily="18" charset="0"/>
              </a:rPr>
              <a:t>AI-enabled demand response in EV stations led to 15–20% energy savings during high-tariff hours.</a:t>
            </a:r>
            <a:endParaRPr lang="en-US" sz="1800" i="1" dirty="0">
              <a:solidFill>
                <a:srgbClr val="00206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1800" b="1" i="1" dirty="0">
                <a:solidFill>
                  <a:srgbClr val="002060"/>
                </a:solidFill>
                <a:latin typeface="Times New Roman" panose="02020603050405020304" pitchFamily="18" charset="0"/>
                <a:cs typeface="Times New Roman" panose="02020603050405020304" pitchFamily="18" charset="0"/>
              </a:rPr>
              <a:t>2012 </a:t>
            </a:r>
            <a:r>
              <a:rPr lang="en-US" sz="1800" b="1" i="1" dirty="0">
                <a:solidFill>
                  <a:srgbClr val="002060"/>
                </a:solidFill>
                <a:latin typeface="Times New Roman" panose="02020603050405020304" pitchFamily="18" charset="0"/>
                <a:cs typeface="Times New Roman" panose="02020603050405020304" pitchFamily="18" charset="0"/>
              </a:rPr>
              <a:t>–  </a:t>
            </a:r>
            <a:r>
              <a:rPr lang="en-IN" sz="1800" b="1" i="1" dirty="0">
                <a:solidFill>
                  <a:srgbClr val="002060"/>
                </a:solidFill>
                <a:latin typeface="Times New Roman" panose="02020603050405020304" pitchFamily="18" charset="0"/>
                <a:cs typeface="Times New Roman" panose="02020603050405020304" pitchFamily="18" charset="0"/>
              </a:rPr>
              <a:t>IEEE International Electric Vehicle Conference: </a:t>
            </a:r>
            <a:r>
              <a:rPr lang="en-IN" sz="1800" i="1" dirty="0">
                <a:solidFill>
                  <a:srgbClr val="002060"/>
                </a:solidFill>
                <a:latin typeface="Times New Roman" panose="02020603050405020304" pitchFamily="18" charset="0"/>
                <a:cs typeface="Times New Roman" panose="02020603050405020304" pitchFamily="18" charset="0"/>
              </a:rPr>
              <a:t>A. Arancibia and K. Strunz, “</a:t>
            </a:r>
            <a:r>
              <a:rPr lang="en-IN" sz="1800" i="1" dirty="0" err="1">
                <a:solidFill>
                  <a:srgbClr val="002060"/>
                </a:solidFill>
                <a:latin typeface="Times New Roman" panose="02020603050405020304" pitchFamily="18" charset="0"/>
                <a:cs typeface="Times New Roman" panose="02020603050405020304" pitchFamily="18" charset="0"/>
              </a:rPr>
              <a:t>Modeling</a:t>
            </a:r>
            <a:r>
              <a:rPr lang="en-IN" sz="1800" i="1" dirty="0">
                <a:solidFill>
                  <a:srgbClr val="002060"/>
                </a:solidFill>
                <a:latin typeface="Times New Roman" panose="02020603050405020304" pitchFamily="18" charset="0"/>
                <a:cs typeface="Times New Roman" panose="02020603050405020304" pitchFamily="18" charset="0"/>
              </a:rPr>
              <a:t> of an electric vehicle charging station for fast DC </a:t>
            </a:r>
            <a:r>
              <a:rPr lang="en-IN" sz="1800" i="1" dirty="0" err="1">
                <a:solidFill>
                  <a:srgbClr val="002060"/>
                </a:solidFill>
                <a:latin typeface="Times New Roman" panose="02020603050405020304" pitchFamily="18" charset="0"/>
                <a:cs typeface="Times New Roman" panose="02020603050405020304" pitchFamily="18" charset="0"/>
              </a:rPr>
              <a:t>charging,”Greenville</a:t>
            </a:r>
            <a:r>
              <a:rPr lang="en-IN" sz="1800" i="1" dirty="0">
                <a:solidFill>
                  <a:srgbClr val="002060"/>
                </a:solidFill>
                <a:latin typeface="Times New Roman" panose="02020603050405020304" pitchFamily="18" charset="0"/>
                <a:cs typeface="Times New Roman" panose="02020603050405020304" pitchFamily="18" charset="0"/>
              </a:rPr>
              <a:t>, SC, USA, 2012, pp. 1-6.</a:t>
            </a:r>
            <a:endParaRPr lang="en-IN" sz="1800" i="1" dirty="0">
              <a:solidFill>
                <a:srgbClr val="00206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1800" b="1" i="1" dirty="0">
                <a:solidFill>
                  <a:srgbClr val="002060"/>
                </a:solidFill>
                <a:latin typeface="Times New Roman" panose="02020603050405020304" pitchFamily="18" charset="0"/>
                <a:cs typeface="Times New Roman" panose="02020603050405020304" pitchFamily="18" charset="0"/>
              </a:rPr>
              <a:t>2016 </a:t>
            </a:r>
            <a:r>
              <a:rPr lang="en-US" sz="1800" b="1" i="1" dirty="0">
                <a:solidFill>
                  <a:srgbClr val="002060"/>
                </a:solidFill>
                <a:latin typeface="Times New Roman" panose="02020603050405020304" pitchFamily="18" charset="0"/>
                <a:cs typeface="Times New Roman" panose="02020603050405020304" pitchFamily="18" charset="0"/>
              </a:rPr>
              <a:t>–</a:t>
            </a:r>
            <a:r>
              <a:rPr lang="en-IN" sz="1800" b="1" i="1" dirty="0">
                <a:solidFill>
                  <a:srgbClr val="002060"/>
                </a:solidFill>
                <a:latin typeface="Times New Roman" panose="02020603050405020304" pitchFamily="18" charset="0"/>
                <a:cs typeface="Times New Roman" panose="02020603050405020304" pitchFamily="18" charset="0"/>
              </a:rPr>
              <a:t> IEEE Transportation Electrification Conference and Expo: </a:t>
            </a:r>
            <a:r>
              <a:rPr lang="en-IN" sz="1800" i="1" dirty="0">
                <a:solidFill>
                  <a:srgbClr val="002060"/>
                </a:solidFill>
                <a:latin typeface="Times New Roman" panose="02020603050405020304" pitchFamily="18" charset="0"/>
                <a:cs typeface="Times New Roman" panose="02020603050405020304" pitchFamily="18" charset="0"/>
              </a:rPr>
              <a:t>A. B. Khan, et al., “Multistage constant-current charging method for Li-Ion batteries,”.</a:t>
            </a:r>
            <a:endParaRPr lang="en-IN" sz="1800" i="1" dirty="0">
              <a:solidFill>
                <a:srgbClr val="00206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
        <p:nvSpPr>
          <p:cNvPr id="7" name="Title 1"/>
          <p:cNvSpPr>
            <a:spLocks noGrp="1"/>
          </p:cNvSpPr>
          <p:nvPr>
            <p:ph type="title"/>
          </p:nvPr>
        </p:nvSpPr>
        <p:spPr>
          <a:xfrm>
            <a:off x="838200" y="136524"/>
            <a:ext cx="10409903" cy="984351"/>
          </a:xfrm>
        </p:spPr>
        <p:txBody>
          <a:bodyPr>
            <a:noAutofit/>
          </a:bodyPr>
          <a:lstStyle/>
          <a:p>
            <a:br>
              <a:rPr lang="en-IN" sz="2400" b="1" dirty="0">
                <a:solidFill>
                  <a:srgbClr val="002060"/>
                </a:solidFill>
                <a:latin typeface="Times New Roman" panose="02020603050405020304" pitchFamily="18" charset="0"/>
                <a:cs typeface="Times New Roman" panose="02020603050405020304" pitchFamily="18" charset="0"/>
              </a:rPr>
            </a:br>
            <a:r>
              <a:rPr lang="en-IN" sz="2400" b="1" dirty="0">
                <a:solidFill>
                  <a:srgbClr val="002060"/>
                </a:solidFill>
                <a:latin typeface="Times New Roman" panose="02020603050405020304" pitchFamily="18" charset="0"/>
                <a:cs typeface="Times New Roman" panose="02020603050405020304" pitchFamily="18" charset="0"/>
              </a:rPr>
              <a:t>References:</a:t>
            </a:r>
            <a:br>
              <a:rPr lang="en-IN" sz="2400" b="1" dirty="0">
                <a:solidFill>
                  <a:srgbClr val="002060"/>
                </a:solidFill>
                <a:latin typeface="Times New Roman" panose="02020603050405020304" pitchFamily="18" charset="0"/>
                <a:cs typeface="Times New Roman" panose="02020603050405020304" pitchFamily="18" charset="0"/>
              </a:rPr>
            </a:br>
            <a:endParaRPr lang="en-IN" sz="24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4371DF9-27D1-4286-99A9-B07A2966053B}" type="slidenum">
              <a:rPr lang="en-IN" smtClean="0"/>
            </a:fld>
            <a:endParaRPr lang="en-IN"/>
          </a:p>
        </p:txBody>
      </p:sp>
      <p:sp>
        <p:nvSpPr>
          <p:cNvPr id="7" name="TextBox 6"/>
          <p:cNvSpPr txBox="1"/>
          <p:nvPr/>
        </p:nvSpPr>
        <p:spPr>
          <a:xfrm>
            <a:off x="0" y="1873976"/>
            <a:ext cx="12192000" cy="2122805"/>
          </a:xfrm>
          <a:prstGeom prst="rect">
            <a:avLst/>
          </a:prstGeom>
          <a:noFill/>
        </p:spPr>
        <p:txBody>
          <a:bodyPr wrap="square">
            <a:spAutoFit/>
          </a:bodyPr>
          <a:lstStyle/>
          <a:p>
            <a:pPr algn="ctr"/>
            <a:r>
              <a:rPr lang="en-IN" sz="4400" dirty="0">
                <a:solidFill>
                  <a:srgbClr val="002060"/>
                </a:solidFill>
                <a:latin typeface="Times New Roman" panose="02020603050405020304" pitchFamily="18" charset="0"/>
                <a:cs typeface="Times New Roman" panose="02020603050405020304" pitchFamily="18" charset="0"/>
              </a:rPr>
              <a:t>THANK YOU</a:t>
            </a:r>
            <a:endParaRPr lang="en-IN" sz="4400" dirty="0">
              <a:solidFill>
                <a:srgbClr val="002060"/>
              </a:solidFill>
              <a:latin typeface="Times New Roman" panose="02020603050405020304" pitchFamily="18" charset="0"/>
              <a:cs typeface="Times New Roman" panose="02020603050405020304" pitchFamily="18" charset="0"/>
            </a:endParaRPr>
          </a:p>
          <a:p>
            <a:pPr algn="ctr"/>
            <a:endParaRPr lang="en-IN" sz="4400" dirty="0">
              <a:solidFill>
                <a:srgbClr val="002060"/>
              </a:solidFill>
              <a:latin typeface="Times New Roman" panose="02020603050405020304" pitchFamily="18" charset="0"/>
              <a:cs typeface="Times New Roman" panose="02020603050405020304" pitchFamily="18" charset="0"/>
            </a:endParaRPr>
          </a:p>
          <a:p>
            <a:pPr algn="ctr"/>
            <a:endParaRPr lang="en-IN" sz="4400" dirty="0">
              <a:solidFill>
                <a:srgbClr val="002060"/>
              </a:solidFill>
              <a:latin typeface="Bahnschrift SemiCondensed" panose="020B0502040204020203"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5277</Words>
  <Application>WPS Presentation</Application>
  <PresentationFormat>Widescreen</PresentationFormat>
  <Paragraphs>177</Paragraphs>
  <Slides>14</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Times New Roman</vt:lpstr>
      <vt:lpstr>Calibri</vt:lpstr>
      <vt:lpstr>Bahnschrift SemiCondensed</vt:lpstr>
      <vt:lpstr>Microsoft YaHei</vt:lpstr>
      <vt:lpstr>Arial Unicode MS</vt:lpstr>
      <vt:lpstr>Calibri Light</vt:lpstr>
      <vt:lpstr>Office Theme</vt:lpstr>
      <vt:lpstr>PowerPoint 演示文稿</vt:lpstr>
      <vt:lpstr>PowerPoint 演示文稿</vt:lpstr>
      <vt:lpstr> Introduction: </vt:lpstr>
      <vt:lpstr>PowerPoint 演示文稿</vt:lpstr>
      <vt:lpstr>PowerPoint 演示文稿</vt:lpstr>
      <vt:lpstr> Block Diagram: </vt:lpstr>
      <vt:lpstr> Objectives: </vt:lpstr>
      <vt:lpstr>PowerPoint 演示文稿</vt:lpstr>
      <vt:lpstr>Output:</vt:lpstr>
      <vt:lpstr>Conference Acceptance &amp; Publication Status:</vt:lpstr>
      <vt:lpstr>This project titled “AI-Controlled Multi-Source Power Integration in Sustainable EV Charging Stations” has been published in the IEEE Research Paper at IIT Bhilai.This publication highlights our proposed system for integrating multiple power sources to support efficient and sustainable EV charging.</vt:lpstr>
      <vt:lpstr>PowerPoint 演示文稿</vt:lpstr>
      <vt:lpstr> References: </vt:lpstr>
      <vt:lpstr>PowerPoint 演示文稿</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MAHENDRA CHANDU BADE</dc:creator>
  <cp:lastModifiedBy>22B01A0233 EEE</cp:lastModifiedBy>
  <cp:revision>161</cp:revision>
  <dcterms:created xsi:type="dcterms:W3CDTF">2024-02-20T06:05:00Z</dcterms:created>
  <dcterms:modified xsi:type="dcterms:W3CDTF">2026-05-22T15:50:58Z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74E00F666A574FD4A6996742CEFF42D4_12</vt:lpwstr>
  </property>
</Properties>
</file>